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6"/>
  </p:sldMasterIdLst>
  <p:notesMasterIdLst>
    <p:notesMasterId r:id="rId33"/>
  </p:notesMasterIdLst>
  <p:sldIdLst>
    <p:sldId id="256" r:id="rId7"/>
    <p:sldId id="272" r:id="rId8"/>
    <p:sldId id="271" r:id="rId9"/>
    <p:sldId id="273" r:id="rId10"/>
    <p:sldId id="274" r:id="rId11"/>
    <p:sldId id="275" r:id="rId12"/>
    <p:sldId id="277" r:id="rId13"/>
    <p:sldId id="278" r:id="rId14"/>
    <p:sldId id="279" r:id="rId15"/>
    <p:sldId id="280" r:id="rId16"/>
    <p:sldId id="281" r:id="rId17"/>
    <p:sldId id="282" r:id="rId18"/>
    <p:sldId id="284" r:id="rId19"/>
    <p:sldId id="285" r:id="rId20"/>
    <p:sldId id="286" r:id="rId21"/>
    <p:sldId id="288" r:id="rId22"/>
    <p:sldId id="289" r:id="rId23"/>
    <p:sldId id="290" r:id="rId24"/>
    <p:sldId id="294" r:id="rId25"/>
    <p:sldId id="296" r:id="rId26"/>
    <p:sldId id="297" r:id="rId27"/>
    <p:sldId id="298" r:id="rId28"/>
    <p:sldId id="299" r:id="rId29"/>
    <p:sldId id="300" r:id="rId30"/>
    <p:sldId id="301" r:id="rId31"/>
    <p:sldId id="264" r:id="rId32"/>
  </p:sldIdLst>
  <p:sldSz cx="12192000" cy="6858000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Arial" charset="0"/>
        <a:ea typeface="ＭＳ Ｐゴシック" pitchFamily="8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Arial" charset="0"/>
        <a:ea typeface="ＭＳ Ｐゴシック" pitchFamily="8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Arial" charset="0"/>
        <a:ea typeface="ＭＳ Ｐゴシック" pitchFamily="8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Arial" charset="0"/>
        <a:ea typeface="ＭＳ Ｐゴシック" pitchFamily="8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Arial" charset="0"/>
        <a:ea typeface="ＭＳ Ｐゴシック" pitchFamily="84" charset="-128"/>
        <a:cs typeface="+mn-cs"/>
      </a:defRPr>
    </a:lvl5pPr>
    <a:lvl6pPr marL="2286000" algn="l" defTabSz="914400" rtl="0" eaLnBrk="1" latinLnBrk="0" hangingPunct="1">
      <a:defRPr sz="2400" i="1" kern="1200">
        <a:solidFill>
          <a:schemeClr val="tx1"/>
        </a:solidFill>
        <a:latin typeface="Arial" charset="0"/>
        <a:ea typeface="ＭＳ Ｐゴシック" pitchFamily="84" charset="-128"/>
        <a:cs typeface="+mn-cs"/>
      </a:defRPr>
    </a:lvl6pPr>
    <a:lvl7pPr marL="2743200" algn="l" defTabSz="914400" rtl="0" eaLnBrk="1" latinLnBrk="0" hangingPunct="1">
      <a:defRPr sz="2400" i="1" kern="1200">
        <a:solidFill>
          <a:schemeClr val="tx1"/>
        </a:solidFill>
        <a:latin typeface="Arial" charset="0"/>
        <a:ea typeface="ＭＳ Ｐゴシック" pitchFamily="84" charset="-128"/>
        <a:cs typeface="+mn-cs"/>
      </a:defRPr>
    </a:lvl7pPr>
    <a:lvl8pPr marL="3200400" algn="l" defTabSz="914400" rtl="0" eaLnBrk="1" latinLnBrk="0" hangingPunct="1">
      <a:defRPr sz="2400" i="1" kern="1200">
        <a:solidFill>
          <a:schemeClr val="tx1"/>
        </a:solidFill>
        <a:latin typeface="Arial" charset="0"/>
        <a:ea typeface="ＭＳ Ｐゴシック" pitchFamily="84" charset="-128"/>
        <a:cs typeface="+mn-cs"/>
      </a:defRPr>
    </a:lvl8pPr>
    <a:lvl9pPr marL="3657600" algn="l" defTabSz="914400" rtl="0" eaLnBrk="1" latinLnBrk="0" hangingPunct="1">
      <a:defRPr sz="2400" i="1" kern="1200">
        <a:solidFill>
          <a:schemeClr val="tx1"/>
        </a:solidFill>
        <a:latin typeface="Arial" charset="0"/>
        <a:ea typeface="ＭＳ Ｐゴシック" pitchFamily="8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CDE3"/>
    <a:srgbClr val="5D85A9"/>
    <a:srgbClr val="204C81"/>
    <a:srgbClr val="19396E"/>
    <a:srgbClr val="1F4C81"/>
    <a:srgbClr val="1B4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662" autoAdjust="0"/>
  </p:normalViewPr>
  <p:slideViewPr>
    <p:cSldViewPr>
      <p:cViewPr varScale="1">
        <p:scale>
          <a:sx n="58" d="100"/>
          <a:sy n="58" d="100"/>
        </p:scale>
        <p:origin x="1022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CB87A5-3589-4A97-9E24-0986B98821ED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FDE40A-76BB-489B-A53A-67886231D817}">
      <dgm:prSet phldrT="[Text]" phldr="0"/>
      <dgm:spPr/>
      <dgm:t>
        <a:bodyPr/>
        <a:lstStyle/>
        <a:p>
          <a:r>
            <a:rPr lang="en-US" dirty="0"/>
            <a:t>Bus, Area, Owner, Zone, or Load Type Numbers</a:t>
          </a:r>
        </a:p>
      </dgm:t>
    </dgm:pt>
    <dgm:pt modelId="{6B2BE67E-0C5E-4547-893C-2053678940AB}" type="parTrans" cxnId="{2C1B6854-C799-4FD2-B396-A3CD2B8F65D3}">
      <dgm:prSet/>
      <dgm:spPr/>
      <dgm:t>
        <a:bodyPr/>
        <a:lstStyle/>
        <a:p>
          <a:endParaRPr lang="en-US"/>
        </a:p>
      </dgm:t>
    </dgm:pt>
    <dgm:pt modelId="{AA216B01-CDE2-4B22-AC36-E926DB8DBFB8}" type="sibTrans" cxnId="{2C1B6854-C799-4FD2-B396-A3CD2B8F65D3}">
      <dgm:prSet/>
      <dgm:spPr/>
      <dgm:t>
        <a:bodyPr/>
        <a:lstStyle/>
        <a:p>
          <a:endParaRPr lang="en-US"/>
        </a:p>
      </dgm:t>
    </dgm:pt>
    <dgm:pt modelId="{607AA6A7-79C4-4FF7-8F5A-805CC82E12A1}">
      <dgm:prSet phldrT="[Text]" phldr="0"/>
      <dgm:spPr/>
      <dgm:t>
        <a:bodyPr/>
        <a:lstStyle/>
        <a:p>
          <a:r>
            <a:rPr lang="en-US" dirty="0"/>
            <a:t>Load Composition and Motor Parameters</a:t>
          </a:r>
        </a:p>
      </dgm:t>
    </dgm:pt>
    <dgm:pt modelId="{91FA9856-DABB-4319-A44C-B82255D1D557}" type="parTrans" cxnId="{8255923D-41A0-4DF6-9F23-7C2758130EC0}">
      <dgm:prSet/>
      <dgm:spPr/>
      <dgm:t>
        <a:bodyPr/>
        <a:lstStyle/>
        <a:p>
          <a:endParaRPr lang="en-US"/>
        </a:p>
      </dgm:t>
    </dgm:pt>
    <dgm:pt modelId="{CD5AAD93-6128-4320-882C-202304578260}" type="sibTrans" cxnId="{8255923D-41A0-4DF6-9F23-7C2758130EC0}">
      <dgm:prSet/>
      <dgm:spPr/>
      <dgm:t>
        <a:bodyPr/>
        <a:lstStyle/>
        <a:p>
          <a:endParaRPr lang="en-US"/>
        </a:p>
      </dgm:t>
    </dgm:pt>
    <dgm:pt modelId="{46133B5E-AD3E-4D22-B5E5-8431E0C81783}">
      <dgm:prSet phldrT="[Text]" phldr="0"/>
      <dgm:spPr/>
      <dgm:t>
        <a:bodyPr/>
        <a:lstStyle/>
        <a:p>
          <a:r>
            <a:rPr lang="en-US" dirty="0"/>
            <a:t>.DYR or .DYD</a:t>
          </a:r>
        </a:p>
      </dgm:t>
    </dgm:pt>
    <dgm:pt modelId="{9AB96825-DCC1-4004-B704-BBDC123FCF9C}" type="parTrans" cxnId="{673CFA40-5207-419D-9D2B-2011F1D6F877}">
      <dgm:prSet/>
      <dgm:spPr/>
      <dgm:t>
        <a:bodyPr/>
        <a:lstStyle/>
        <a:p>
          <a:endParaRPr lang="en-US"/>
        </a:p>
      </dgm:t>
    </dgm:pt>
    <dgm:pt modelId="{E4D9A8AD-9C9D-4248-8FD3-4F7E2199C473}" type="sibTrans" cxnId="{673CFA40-5207-419D-9D2B-2011F1D6F877}">
      <dgm:prSet/>
      <dgm:spPr/>
      <dgm:t>
        <a:bodyPr/>
        <a:lstStyle/>
        <a:p>
          <a:endParaRPr lang="en-US"/>
        </a:p>
      </dgm:t>
    </dgm:pt>
    <dgm:pt modelId="{4D65A027-2C94-4F13-A3E9-FD1119228222}">
      <dgm:prSet phldrT="[Text]" phldr="0"/>
      <dgm:spPr/>
      <dgm:t>
        <a:bodyPr/>
        <a:lstStyle/>
        <a:p>
          <a:r>
            <a:rPr lang="en-US" dirty="0"/>
            <a:t>Load Feeder Type</a:t>
          </a:r>
        </a:p>
      </dgm:t>
    </dgm:pt>
    <dgm:pt modelId="{D9548943-8E7E-4AAB-9C60-0C2E30B7F743}" type="parTrans" cxnId="{161DFF65-7BF0-4668-A17C-1C8F01C6CF90}">
      <dgm:prSet/>
      <dgm:spPr/>
      <dgm:t>
        <a:bodyPr/>
        <a:lstStyle/>
        <a:p>
          <a:endParaRPr lang="en-US"/>
        </a:p>
      </dgm:t>
    </dgm:pt>
    <dgm:pt modelId="{8A8B001D-6544-461D-A372-26BABCE709B9}" type="sibTrans" cxnId="{161DFF65-7BF0-4668-A17C-1C8F01C6CF90}">
      <dgm:prSet/>
      <dgm:spPr/>
      <dgm:t>
        <a:bodyPr/>
        <a:lstStyle/>
        <a:p>
          <a:endParaRPr lang="en-US"/>
        </a:p>
      </dgm:t>
    </dgm:pt>
    <dgm:pt modelId="{F46AAD8F-BCC3-41FC-821F-F3ACCA05F43D}" type="pres">
      <dgm:prSet presAssocID="{0ECB87A5-3589-4A97-9E24-0986B98821ED}" presName="Name0" presStyleCnt="0">
        <dgm:presLayoutVars>
          <dgm:chMax val="4"/>
          <dgm:resizeHandles val="exact"/>
        </dgm:presLayoutVars>
      </dgm:prSet>
      <dgm:spPr/>
    </dgm:pt>
    <dgm:pt modelId="{04A076B8-E279-4661-B3FE-5CA32FDA146C}" type="pres">
      <dgm:prSet presAssocID="{0ECB87A5-3589-4A97-9E24-0986B98821ED}" presName="ellipse" presStyleLbl="trBgShp" presStyleIdx="0" presStyleCnt="1"/>
      <dgm:spPr/>
    </dgm:pt>
    <dgm:pt modelId="{6E730BF9-3529-4383-926D-412F2FAEA493}" type="pres">
      <dgm:prSet presAssocID="{0ECB87A5-3589-4A97-9E24-0986B98821ED}" presName="arrow1" presStyleLbl="fgShp" presStyleIdx="0" presStyleCnt="1"/>
      <dgm:spPr/>
    </dgm:pt>
    <dgm:pt modelId="{E4652B59-BA5E-4B28-882B-D8ABF2B5A875}" type="pres">
      <dgm:prSet presAssocID="{0ECB87A5-3589-4A97-9E24-0986B98821ED}" presName="rectangle" presStyleLbl="revTx" presStyleIdx="0" presStyleCnt="1">
        <dgm:presLayoutVars>
          <dgm:bulletEnabled val="1"/>
        </dgm:presLayoutVars>
      </dgm:prSet>
      <dgm:spPr/>
    </dgm:pt>
    <dgm:pt modelId="{D201AB58-4BB8-4D1B-86FC-F2065C01384D}" type="pres">
      <dgm:prSet presAssocID="{4D65A027-2C94-4F13-A3E9-FD1119228222}" presName="item1" presStyleLbl="node1" presStyleIdx="0" presStyleCnt="3">
        <dgm:presLayoutVars>
          <dgm:bulletEnabled val="1"/>
        </dgm:presLayoutVars>
      </dgm:prSet>
      <dgm:spPr/>
    </dgm:pt>
    <dgm:pt modelId="{F54F9338-4E0E-4ED5-B9D3-C21449B687FB}" type="pres">
      <dgm:prSet presAssocID="{607AA6A7-79C4-4FF7-8F5A-805CC82E12A1}" presName="item2" presStyleLbl="node1" presStyleIdx="1" presStyleCnt="3">
        <dgm:presLayoutVars>
          <dgm:bulletEnabled val="1"/>
        </dgm:presLayoutVars>
      </dgm:prSet>
      <dgm:spPr/>
    </dgm:pt>
    <dgm:pt modelId="{0616371F-095A-47CA-A006-3A93C34E50FF}" type="pres">
      <dgm:prSet presAssocID="{46133B5E-AD3E-4D22-B5E5-8431E0C81783}" presName="item3" presStyleLbl="node1" presStyleIdx="2" presStyleCnt="3">
        <dgm:presLayoutVars>
          <dgm:bulletEnabled val="1"/>
        </dgm:presLayoutVars>
      </dgm:prSet>
      <dgm:spPr/>
    </dgm:pt>
    <dgm:pt modelId="{2B89DD93-E88A-459B-AAB9-9139E83237C7}" type="pres">
      <dgm:prSet presAssocID="{0ECB87A5-3589-4A97-9E24-0986B98821ED}" presName="funnel" presStyleLbl="trAlignAcc1" presStyleIdx="0" presStyleCnt="1"/>
      <dgm:spPr/>
    </dgm:pt>
  </dgm:ptLst>
  <dgm:cxnLst>
    <dgm:cxn modelId="{8255923D-41A0-4DF6-9F23-7C2758130EC0}" srcId="{0ECB87A5-3589-4A97-9E24-0986B98821ED}" destId="{607AA6A7-79C4-4FF7-8F5A-805CC82E12A1}" srcOrd="2" destOrd="0" parTransId="{91FA9856-DABB-4319-A44C-B82255D1D557}" sibTransId="{CD5AAD93-6128-4320-882C-202304578260}"/>
    <dgm:cxn modelId="{673CFA40-5207-419D-9D2B-2011F1D6F877}" srcId="{0ECB87A5-3589-4A97-9E24-0986B98821ED}" destId="{46133B5E-AD3E-4D22-B5E5-8431E0C81783}" srcOrd="3" destOrd="0" parTransId="{9AB96825-DCC1-4004-B704-BBDC123FCF9C}" sibTransId="{E4D9A8AD-9C9D-4248-8FD3-4F7E2199C473}"/>
    <dgm:cxn modelId="{C0EF975E-FA39-4E60-9B0F-337D4288A8E9}" type="presOf" srcId="{46133B5E-AD3E-4D22-B5E5-8431E0C81783}" destId="{E4652B59-BA5E-4B28-882B-D8ABF2B5A875}" srcOrd="0" destOrd="0" presId="urn:microsoft.com/office/officeart/2005/8/layout/funnel1"/>
    <dgm:cxn modelId="{161DFF65-7BF0-4668-A17C-1C8F01C6CF90}" srcId="{0ECB87A5-3589-4A97-9E24-0986B98821ED}" destId="{4D65A027-2C94-4F13-A3E9-FD1119228222}" srcOrd="1" destOrd="0" parTransId="{D9548943-8E7E-4AAB-9C60-0C2E30B7F743}" sibTransId="{8A8B001D-6544-461D-A372-26BABCE709B9}"/>
    <dgm:cxn modelId="{44CCBF6C-4A00-424C-8DE3-EB443516B0A2}" type="presOf" srcId="{5AFDE40A-76BB-489B-A53A-67886231D817}" destId="{0616371F-095A-47CA-A006-3A93C34E50FF}" srcOrd="0" destOrd="0" presId="urn:microsoft.com/office/officeart/2005/8/layout/funnel1"/>
    <dgm:cxn modelId="{2C1B6854-C799-4FD2-B396-A3CD2B8F65D3}" srcId="{0ECB87A5-3589-4A97-9E24-0986B98821ED}" destId="{5AFDE40A-76BB-489B-A53A-67886231D817}" srcOrd="0" destOrd="0" parTransId="{6B2BE67E-0C5E-4547-893C-2053678940AB}" sibTransId="{AA216B01-CDE2-4B22-AC36-E926DB8DBFB8}"/>
    <dgm:cxn modelId="{520E2058-5171-41DF-9F67-4892A674025E}" type="presOf" srcId="{0ECB87A5-3589-4A97-9E24-0986B98821ED}" destId="{F46AAD8F-BCC3-41FC-821F-F3ACCA05F43D}" srcOrd="0" destOrd="0" presId="urn:microsoft.com/office/officeart/2005/8/layout/funnel1"/>
    <dgm:cxn modelId="{041C5BF3-684A-4902-BD36-A3F761B48067}" type="presOf" srcId="{4D65A027-2C94-4F13-A3E9-FD1119228222}" destId="{F54F9338-4E0E-4ED5-B9D3-C21449B687FB}" srcOrd="0" destOrd="0" presId="urn:microsoft.com/office/officeart/2005/8/layout/funnel1"/>
    <dgm:cxn modelId="{AF441BFB-BF31-4E98-88F8-7CFF486DF4FB}" type="presOf" srcId="{607AA6A7-79C4-4FF7-8F5A-805CC82E12A1}" destId="{D201AB58-4BB8-4D1B-86FC-F2065C01384D}" srcOrd="0" destOrd="0" presId="urn:microsoft.com/office/officeart/2005/8/layout/funnel1"/>
    <dgm:cxn modelId="{652CE28E-5F84-484E-8D65-900BBCF953C7}" type="presParOf" srcId="{F46AAD8F-BCC3-41FC-821F-F3ACCA05F43D}" destId="{04A076B8-E279-4661-B3FE-5CA32FDA146C}" srcOrd="0" destOrd="0" presId="urn:microsoft.com/office/officeart/2005/8/layout/funnel1"/>
    <dgm:cxn modelId="{18AE3783-E7CB-4A90-B3D0-2ECBC5B72B61}" type="presParOf" srcId="{F46AAD8F-BCC3-41FC-821F-F3ACCA05F43D}" destId="{6E730BF9-3529-4383-926D-412F2FAEA493}" srcOrd="1" destOrd="0" presId="urn:microsoft.com/office/officeart/2005/8/layout/funnel1"/>
    <dgm:cxn modelId="{8F383F00-25A1-4201-A4F4-C0EAC707ABC9}" type="presParOf" srcId="{F46AAD8F-BCC3-41FC-821F-F3ACCA05F43D}" destId="{E4652B59-BA5E-4B28-882B-D8ABF2B5A875}" srcOrd="2" destOrd="0" presId="urn:microsoft.com/office/officeart/2005/8/layout/funnel1"/>
    <dgm:cxn modelId="{553550B5-3F7B-4A32-AF06-3FB8BDB45F9B}" type="presParOf" srcId="{F46AAD8F-BCC3-41FC-821F-F3ACCA05F43D}" destId="{D201AB58-4BB8-4D1B-86FC-F2065C01384D}" srcOrd="3" destOrd="0" presId="urn:microsoft.com/office/officeart/2005/8/layout/funnel1"/>
    <dgm:cxn modelId="{6F660269-D5DB-4AE1-84D8-3E3B0D07A9FF}" type="presParOf" srcId="{F46AAD8F-BCC3-41FC-821F-F3ACCA05F43D}" destId="{F54F9338-4E0E-4ED5-B9D3-C21449B687FB}" srcOrd="4" destOrd="0" presId="urn:microsoft.com/office/officeart/2005/8/layout/funnel1"/>
    <dgm:cxn modelId="{45792D8C-CA0D-4C6A-9AAC-BCA59B27712B}" type="presParOf" srcId="{F46AAD8F-BCC3-41FC-821F-F3ACCA05F43D}" destId="{0616371F-095A-47CA-A006-3A93C34E50FF}" srcOrd="5" destOrd="0" presId="urn:microsoft.com/office/officeart/2005/8/layout/funnel1"/>
    <dgm:cxn modelId="{DBB94E0C-5CDA-4EBA-896C-DEACEC175E02}" type="presParOf" srcId="{F46AAD8F-BCC3-41FC-821F-F3ACCA05F43D}" destId="{2B89DD93-E88A-459B-AAB9-9139E83237C7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A076B8-E279-4661-B3FE-5CA32FDA146C}">
      <dsp:nvSpPr>
        <dsp:cNvPr id="0" name=""/>
        <dsp:cNvSpPr/>
      </dsp:nvSpPr>
      <dsp:spPr>
        <a:xfrm>
          <a:off x="1631785" y="162692"/>
          <a:ext cx="3228816" cy="1121325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730BF9-3529-4383-926D-412F2FAEA493}">
      <dsp:nvSpPr>
        <dsp:cNvPr id="0" name=""/>
        <dsp:cNvSpPr/>
      </dsp:nvSpPr>
      <dsp:spPr>
        <a:xfrm>
          <a:off x="2938330" y="2908438"/>
          <a:ext cx="625739" cy="400473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652B59-BA5E-4B28-882B-D8ABF2B5A875}">
      <dsp:nvSpPr>
        <dsp:cNvPr id="0" name=""/>
        <dsp:cNvSpPr/>
      </dsp:nvSpPr>
      <dsp:spPr>
        <a:xfrm>
          <a:off x="1749424" y="3228816"/>
          <a:ext cx="3003550" cy="750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.DYR or .DYD</a:t>
          </a:r>
        </a:p>
      </dsp:txBody>
      <dsp:txXfrm>
        <a:off x="1749424" y="3228816"/>
        <a:ext cx="3003550" cy="750887"/>
      </dsp:txXfrm>
    </dsp:sp>
    <dsp:sp modelId="{D201AB58-4BB8-4D1B-86FC-F2065C01384D}">
      <dsp:nvSpPr>
        <dsp:cNvPr id="0" name=""/>
        <dsp:cNvSpPr/>
      </dsp:nvSpPr>
      <dsp:spPr>
        <a:xfrm>
          <a:off x="2805673" y="1370620"/>
          <a:ext cx="1126331" cy="11263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Load Composition and Motor Parameters</a:t>
          </a:r>
        </a:p>
      </dsp:txBody>
      <dsp:txXfrm>
        <a:off x="2970620" y="1535567"/>
        <a:ext cx="796437" cy="796437"/>
      </dsp:txXfrm>
    </dsp:sp>
    <dsp:sp modelId="{F54F9338-4E0E-4ED5-B9D3-C21449B687FB}">
      <dsp:nvSpPr>
        <dsp:cNvPr id="0" name=""/>
        <dsp:cNvSpPr/>
      </dsp:nvSpPr>
      <dsp:spPr>
        <a:xfrm>
          <a:off x="1999720" y="525621"/>
          <a:ext cx="1126331" cy="11263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Load Feeder Type</a:t>
          </a:r>
        </a:p>
      </dsp:txBody>
      <dsp:txXfrm>
        <a:off x="2164667" y="690568"/>
        <a:ext cx="796437" cy="796437"/>
      </dsp:txXfrm>
    </dsp:sp>
    <dsp:sp modelId="{0616371F-095A-47CA-A006-3A93C34E50FF}">
      <dsp:nvSpPr>
        <dsp:cNvPr id="0" name=""/>
        <dsp:cNvSpPr/>
      </dsp:nvSpPr>
      <dsp:spPr>
        <a:xfrm>
          <a:off x="3151081" y="253299"/>
          <a:ext cx="1126331" cy="11263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Bus, Area, Owner, Zone, or Load Type Numbers</a:t>
          </a:r>
        </a:p>
      </dsp:txBody>
      <dsp:txXfrm>
        <a:off x="3316028" y="418246"/>
        <a:ext cx="796437" cy="796437"/>
      </dsp:txXfrm>
    </dsp:sp>
    <dsp:sp modelId="{2B89DD93-E88A-459B-AAB9-9139E83237C7}">
      <dsp:nvSpPr>
        <dsp:cNvPr id="0" name=""/>
        <dsp:cNvSpPr/>
      </dsp:nvSpPr>
      <dsp:spPr>
        <a:xfrm>
          <a:off x="1499128" y="25029"/>
          <a:ext cx="3504142" cy="2803313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FC542F-8D3C-4847-93CC-E3B6CA37D9CC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EC48A-CACA-446F-81AF-F188FB520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448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EC48A-CACA-446F-81AF-F188FB520B0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702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EC48A-CACA-446F-81AF-F188FB520B0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376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noFill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484B90-0160-4F8C-AFC2-20EC9FCCC15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05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/>
          <a:srcRect r="629"/>
          <a:stretch/>
        </p:blipFill>
        <p:spPr>
          <a:xfrm>
            <a:off x="70339" y="76200"/>
            <a:ext cx="12045461" cy="675301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/>
          <a:srcRect l="5324" t="4418" r="65090" b="82327"/>
          <a:stretch/>
        </p:blipFill>
        <p:spPr>
          <a:xfrm>
            <a:off x="381000" y="685800"/>
            <a:ext cx="2522974" cy="756892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3962400" y="5932863"/>
            <a:ext cx="8229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i="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RELIABILITY</a:t>
            </a:r>
            <a:r>
              <a:rPr lang="en-US" sz="1300" b="1" i="0" baseline="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| RESILIENCE | SECURITY</a:t>
            </a:r>
            <a:endParaRPr lang="en-US" sz="1300" b="1" i="0" dirty="0">
              <a:solidFill>
                <a:schemeClr val="accen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038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8800" y="2468562"/>
            <a:ext cx="11074400" cy="2027238"/>
          </a:xfrm>
          <a:prstGeom prst="rect">
            <a:avLst/>
          </a:prstGeom>
        </p:spPr>
        <p:txBody>
          <a:bodyPr anchor="t" anchorCtr="0"/>
          <a:lstStyle>
            <a:lvl1pPr algn="ctr">
              <a:defRPr sz="2400" b="1" baseline="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Subtitle Slide</a:t>
            </a:r>
          </a:p>
        </p:txBody>
      </p:sp>
    </p:spTree>
    <p:extLst>
      <p:ext uri="{BB962C8B-B14F-4D97-AF65-F5344CB8AC3E}">
        <p14:creationId xmlns:p14="http://schemas.microsoft.com/office/powerpoint/2010/main" val="4165487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60803" y="152400"/>
            <a:ext cx="8026399" cy="655638"/>
          </a:xfrm>
          <a:prstGeom prst="rect">
            <a:avLst/>
          </a:prstGeom>
        </p:spPr>
        <p:txBody>
          <a:bodyPr anchor="ctr" anchorCtr="0"/>
          <a:lstStyle>
            <a:lvl1pPr algn="r">
              <a:defRPr sz="2400" b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432" y="1325562"/>
            <a:ext cx="11222568" cy="48768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base" latinLnBrk="0" hangingPunct="1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19396E"/>
              </a:buClr>
              <a:buSzPct val="150000"/>
              <a:buFont typeface="Arial" pitchFamily="34" charset="0"/>
              <a:buNone/>
              <a:tabLst/>
              <a:defRPr sz="2400" baseline="0">
                <a:solidFill>
                  <a:schemeClr val="accent6"/>
                </a:solidFill>
                <a:latin typeface="Calibri"/>
                <a:cs typeface="Calibri"/>
              </a:defRPr>
            </a:lvl1pPr>
            <a:lvl2pPr marL="457200" indent="-22860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rgbClr val="5D85A9"/>
              </a:buClr>
              <a:buFont typeface="Wingdings" charset="2"/>
              <a:buChar char="§"/>
              <a:defRPr sz="2000">
                <a:solidFill>
                  <a:schemeClr val="accent6"/>
                </a:solidFill>
                <a:latin typeface="Calibri"/>
                <a:cs typeface="Calibri"/>
              </a:defRPr>
            </a:lvl2pPr>
            <a:lvl3pPr marL="685800" indent="-22860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9396E"/>
              </a:buClr>
              <a:buFont typeface="Courier New"/>
              <a:buChar char="o"/>
              <a:defRPr sz="1800">
                <a:solidFill>
                  <a:schemeClr val="accent6"/>
                </a:solidFill>
                <a:latin typeface="Calibri"/>
                <a:cs typeface="Calibri"/>
              </a:defRPr>
            </a:lvl3pPr>
            <a:lvl4pPr marL="914400" indent="-22860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rgbClr val="19396E"/>
              </a:buClr>
              <a:buFont typeface="Lucida Grande"/>
              <a:buChar char="­"/>
              <a:defRPr sz="1600" baseline="0">
                <a:solidFill>
                  <a:schemeClr val="accent6"/>
                </a:solidFill>
                <a:latin typeface="Calibri"/>
                <a:cs typeface="Calibri"/>
              </a:defRPr>
            </a:lvl4pPr>
            <a:lvl5pPr marL="2057400" indent="-22860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rgbClr val="19396E"/>
              </a:buClr>
              <a:buFont typeface="Wingdings" charset="2"/>
              <a:buChar char="§"/>
              <a:defRPr sz="1600">
                <a:solidFill>
                  <a:schemeClr val="tx1"/>
                </a:solidFill>
                <a:latin typeface="Calibri"/>
                <a:cs typeface="Calibri"/>
              </a:defRPr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19396E"/>
              </a:buClr>
              <a:buSzTx/>
              <a:tabLst/>
              <a:defRPr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9818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sz="half" idx="10"/>
          </p:nvPr>
        </p:nvSpPr>
        <p:spPr>
          <a:xfrm>
            <a:off x="461432" y="1325562"/>
            <a:ext cx="11222568" cy="48466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19396E"/>
              </a:buClr>
              <a:buSzPct val="100000"/>
              <a:defRPr sz="2400" baseline="0">
                <a:solidFill>
                  <a:schemeClr val="accent6"/>
                </a:solidFill>
                <a:latin typeface="Calibri" pitchFamily="34" charset="0"/>
              </a:defRPr>
            </a:lvl1pPr>
            <a:lvl2pPr marL="457200" indent="-228600">
              <a:buClr>
                <a:srgbClr val="5D85A9"/>
              </a:buClr>
              <a:buFont typeface="Wingdings" charset="2"/>
              <a:buChar char="§"/>
              <a:defRPr sz="2000">
                <a:solidFill>
                  <a:schemeClr val="accent6"/>
                </a:solidFill>
                <a:latin typeface="Calibri" pitchFamily="34" charset="0"/>
              </a:defRPr>
            </a:lvl2pPr>
            <a:lvl3pPr marL="685800" indent="-228600">
              <a:buClr>
                <a:srgbClr val="19396E"/>
              </a:buClr>
              <a:buFont typeface="Courier New"/>
              <a:buChar char="o"/>
              <a:defRPr sz="1800">
                <a:solidFill>
                  <a:schemeClr val="accent6"/>
                </a:solidFill>
                <a:latin typeface="Calibri" pitchFamily="34" charset="0"/>
              </a:defRPr>
            </a:lvl3pPr>
            <a:lvl4pPr marL="914400" indent="-228600">
              <a:buClr>
                <a:srgbClr val="19396E"/>
              </a:buClr>
              <a:defRPr sz="1600">
                <a:solidFill>
                  <a:schemeClr val="accent6"/>
                </a:solidFill>
                <a:latin typeface="Calibri" pitchFamily="34" charset="0"/>
              </a:defRPr>
            </a:lvl4pPr>
            <a:lvl5pPr marL="2057400" indent="-228600">
              <a:buClr>
                <a:srgbClr val="19396E"/>
              </a:buClr>
              <a:buFont typeface="Wingdings" charset="2"/>
              <a:buChar char="§"/>
              <a:defRPr sz="1600">
                <a:solidFill>
                  <a:schemeClr val="accent4"/>
                </a:solidFill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860803" y="152400"/>
            <a:ext cx="8026399" cy="655638"/>
          </a:xfrm>
          <a:prstGeom prst="rect">
            <a:avLst/>
          </a:prstGeom>
        </p:spPr>
        <p:txBody>
          <a:bodyPr anchor="ctr" anchorCtr="0"/>
          <a:lstStyle>
            <a:lvl1pPr algn="r">
              <a:defRPr sz="2400" b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431699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sz="half" idx="10"/>
          </p:nvPr>
        </p:nvSpPr>
        <p:spPr>
          <a:xfrm>
            <a:off x="461432" y="1325562"/>
            <a:ext cx="5388864" cy="48466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19396E"/>
              </a:buClr>
              <a:defRPr sz="2400" baseline="0">
                <a:solidFill>
                  <a:schemeClr val="accent6"/>
                </a:solidFill>
                <a:latin typeface="Calibri" pitchFamily="34" charset="0"/>
              </a:defRPr>
            </a:lvl1pPr>
            <a:lvl2pPr marL="457200" indent="-228600">
              <a:buClr>
                <a:srgbClr val="5D85A9"/>
              </a:buClr>
              <a:buFont typeface="Wingdings" charset="2"/>
              <a:buChar char="§"/>
              <a:defRPr sz="2000">
                <a:solidFill>
                  <a:schemeClr val="accent6"/>
                </a:solidFill>
                <a:latin typeface="Calibri" pitchFamily="34" charset="0"/>
              </a:defRPr>
            </a:lvl2pPr>
            <a:lvl3pPr marL="685800" indent="-228600">
              <a:buClr>
                <a:srgbClr val="19396E"/>
              </a:buClr>
              <a:buFont typeface="Courier New"/>
              <a:buChar char="o"/>
              <a:defRPr sz="1800">
                <a:solidFill>
                  <a:schemeClr val="accent6"/>
                </a:solidFill>
                <a:latin typeface="Calibri" pitchFamily="34" charset="0"/>
              </a:defRPr>
            </a:lvl3pPr>
            <a:lvl4pPr marL="914400" indent="-228600">
              <a:buClr>
                <a:srgbClr val="19396E"/>
              </a:buClr>
              <a:defRPr sz="1600">
                <a:solidFill>
                  <a:schemeClr val="accent6"/>
                </a:solidFill>
                <a:latin typeface="Calibri" pitchFamily="34" charset="0"/>
              </a:defRPr>
            </a:lvl4pPr>
            <a:lvl5pPr marL="2057400" indent="-228600">
              <a:buClr>
                <a:srgbClr val="19396E"/>
              </a:buClr>
              <a:buFont typeface="Wingdings" charset="2"/>
              <a:buChar char="§"/>
              <a:defRPr sz="1600">
                <a:solidFill>
                  <a:schemeClr val="accent4"/>
                </a:solidFill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sz="half" idx="11"/>
          </p:nvPr>
        </p:nvSpPr>
        <p:spPr>
          <a:xfrm>
            <a:off x="6091936" y="1325562"/>
            <a:ext cx="5388864" cy="48466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19396E"/>
              </a:buClr>
              <a:defRPr sz="2400" baseline="0">
                <a:solidFill>
                  <a:schemeClr val="accent6"/>
                </a:solidFill>
                <a:latin typeface="Calibri" pitchFamily="34" charset="0"/>
              </a:defRPr>
            </a:lvl1pPr>
            <a:lvl2pPr marL="457200" indent="-228600">
              <a:buClr>
                <a:srgbClr val="5D85A9"/>
              </a:buClr>
              <a:buFont typeface="Wingdings" charset="2"/>
              <a:buChar char="§"/>
              <a:defRPr sz="2000">
                <a:solidFill>
                  <a:schemeClr val="accent6"/>
                </a:solidFill>
                <a:latin typeface="Calibri" pitchFamily="34" charset="0"/>
              </a:defRPr>
            </a:lvl2pPr>
            <a:lvl3pPr marL="685800" indent="-228600">
              <a:buClr>
                <a:srgbClr val="19396E"/>
              </a:buClr>
              <a:buFont typeface="Courier New"/>
              <a:buChar char="o"/>
              <a:defRPr sz="1800">
                <a:solidFill>
                  <a:schemeClr val="accent6"/>
                </a:solidFill>
                <a:latin typeface="Calibri" pitchFamily="34" charset="0"/>
              </a:defRPr>
            </a:lvl3pPr>
            <a:lvl4pPr marL="914400" indent="-228600">
              <a:buClr>
                <a:srgbClr val="19396E"/>
              </a:buClr>
              <a:defRPr sz="1600">
                <a:solidFill>
                  <a:schemeClr val="accent6"/>
                </a:solidFill>
                <a:latin typeface="Calibri" pitchFamily="34" charset="0"/>
              </a:defRPr>
            </a:lvl4pPr>
            <a:lvl5pPr marL="2057400" indent="-228600">
              <a:buClr>
                <a:srgbClr val="19396E"/>
              </a:buClr>
              <a:buFont typeface="Wingdings" charset="2"/>
              <a:buChar char="§"/>
              <a:defRPr sz="1600">
                <a:solidFill>
                  <a:schemeClr val="accent4"/>
                </a:solidFill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860803" y="152400"/>
            <a:ext cx="8026399" cy="655638"/>
          </a:xfrm>
          <a:prstGeom prst="rect">
            <a:avLst/>
          </a:prstGeom>
        </p:spPr>
        <p:txBody>
          <a:bodyPr anchor="ctr" anchorCtr="0"/>
          <a:lstStyle>
            <a:lvl1pPr algn="r">
              <a:defRPr sz="2400" b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270830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1432" y="1325562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204C8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Column Title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2" y="1325562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204C8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Column Title 2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1"/>
          </p:nvPr>
        </p:nvSpPr>
        <p:spPr>
          <a:xfrm>
            <a:off x="461432" y="1981200"/>
            <a:ext cx="5388864" cy="4038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19396E"/>
              </a:buClr>
              <a:defRPr sz="2400" baseline="0">
                <a:solidFill>
                  <a:schemeClr val="accent6"/>
                </a:solidFill>
                <a:latin typeface="Calibri" pitchFamily="34" charset="0"/>
              </a:defRPr>
            </a:lvl1pPr>
            <a:lvl2pPr marL="457200" indent="-228600">
              <a:buClr>
                <a:srgbClr val="5D85A9"/>
              </a:buClr>
              <a:buFont typeface="Wingdings" charset="2"/>
              <a:buChar char="§"/>
              <a:defRPr sz="2000">
                <a:solidFill>
                  <a:schemeClr val="accent6"/>
                </a:solidFill>
                <a:latin typeface="Calibri" pitchFamily="34" charset="0"/>
              </a:defRPr>
            </a:lvl2pPr>
            <a:lvl3pPr marL="685800" indent="-228600">
              <a:buClr>
                <a:srgbClr val="5D85A9"/>
              </a:buClr>
              <a:buFont typeface="Courier New"/>
              <a:buChar char="o"/>
              <a:defRPr sz="1800">
                <a:solidFill>
                  <a:schemeClr val="accent6"/>
                </a:solidFill>
                <a:latin typeface="Calibri" pitchFamily="34" charset="0"/>
              </a:defRPr>
            </a:lvl3pPr>
            <a:lvl4pPr marL="914400" indent="-228600">
              <a:buClr>
                <a:srgbClr val="5D85A9"/>
              </a:buClr>
              <a:defRPr sz="1600">
                <a:solidFill>
                  <a:schemeClr val="accent6"/>
                </a:solidFill>
                <a:latin typeface="Calibri" pitchFamily="34" charset="0"/>
              </a:defRPr>
            </a:lvl4pPr>
            <a:lvl5pPr marL="2057400" indent="-228600">
              <a:buClr>
                <a:srgbClr val="19396E"/>
              </a:buClr>
              <a:buFont typeface="Wingdings" charset="2"/>
              <a:buChar char="§"/>
              <a:defRPr sz="1600">
                <a:solidFill>
                  <a:schemeClr val="accent4"/>
                </a:solidFill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2"/>
          </p:nvPr>
        </p:nvSpPr>
        <p:spPr>
          <a:xfrm>
            <a:off x="6096169" y="1981200"/>
            <a:ext cx="5388864" cy="4038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19396E"/>
              </a:buClr>
              <a:defRPr sz="2400" baseline="0">
                <a:solidFill>
                  <a:schemeClr val="accent6"/>
                </a:solidFill>
                <a:latin typeface="Calibri" pitchFamily="34" charset="0"/>
              </a:defRPr>
            </a:lvl1pPr>
            <a:lvl2pPr marL="457200" indent="-228600">
              <a:buClr>
                <a:srgbClr val="5D85A9"/>
              </a:buClr>
              <a:buFont typeface="Wingdings" charset="2"/>
              <a:buChar char="§"/>
              <a:defRPr sz="2000">
                <a:solidFill>
                  <a:schemeClr val="accent6"/>
                </a:solidFill>
                <a:latin typeface="Calibri" pitchFamily="34" charset="0"/>
              </a:defRPr>
            </a:lvl2pPr>
            <a:lvl3pPr marL="685800" indent="-228600">
              <a:buClr>
                <a:srgbClr val="5D85A9"/>
              </a:buClr>
              <a:buFont typeface="Courier New"/>
              <a:buChar char="o"/>
              <a:defRPr sz="1800">
                <a:solidFill>
                  <a:schemeClr val="accent6"/>
                </a:solidFill>
                <a:latin typeface="Calibri" pitchFamily="34" charset="0"/>
              </a:defRPr>
            </a:lvl3pPr>
            <a:lvl4pPr marL="914400" indent="-228600">
              <a:buClr>
                <a:srgbClr val="5D85A9"/>
              </a:buClr>
              <a:defRPr sz="1600">
                <a:solidFill>
                  <a:schemeClr val="accent6"/>
                </a:solidFill>
                <a:latin typeface="Calibri" pitchFamily="34" charset="0"/>
              </a:defRPr>
            </a:lvl4pPr>
            <a:lvl5pPr marL="2057400" indent="-228600">
              <a:buClr>
                <a:srgbClr val="19396E"/>
              </a:buClr>
              <a:buFont typeface="Wingdings" charset="2"/>
              <a:buChar char="§"/>
              <a:defRPr sz="1600">
                <a:solidFill>
                  <a:schemeClr val="accent4"/>
                </a:solidFill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860803" y="152400"/>
            <a:ext cx="8026399" cy="655638"/>
          </a:xfrm>
          <a:prstGeom prst="rect">
            <a:avLst/>
          </a:prstGeom>
        </p:spPr>
        <p:txBody>
          <a:bodyPr anchor="ctr" anchorCtr="0"/>
          <a:lstStyle>
            <a:lvl1pPr algn="r">
              <a:defRPr sz="2400" b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43797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447802"/>
            <a:ext cx="7315200" cy="3279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accent6"/>
                </a:solidFill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accent6"/>
                </a:solidFill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0"/>
          </p:nvPr>
        </p:nvSpPr>
        <p:spPr>
          <a:xfrm>
            <a:off x="2389717" y="4800600"/>
            <a:ext cx="7315200" cy="566928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1" i="0">
                <a:solidFill>
                  <a:schemeClr val="accent6"/>
                </a:solidFill>
                <a:latin typeface="Tahoma"/>
                <a:cs typeface="Tahom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60803" y="152400"/>
            <a:ext cx="8026399" cy="655638"/>
          </a:xfrm>
          <a:prstGeom prst="rect">
            <a:avLst/>
          </a:prstGeom>
        </p:spPr>
        <p:txBody>
          <a:bodyPr anchor="ctr" anchorCtr="0"/>
          <a:lstStyle>
            <a:lvl1pPr algn="r">
              <a:defRPr sz="2400" b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704763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3860803" y="152400"/>
            <a:ext cx="8026399" cy="655638"/>
          </a:xfrm>
          <a:prstGeom prst="rect">
            <a:avLst/>
          </a:prstGeom>
        </p:spPr>
        <p:txBody>
          <a:bodyPr anchor="ctr" anchorCtr="0"/>
          <a:lstStyle>
            <a:lvl1pPr algn="r">
              <a:defRPr sz="2400" b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962699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1219200"/>
            <a:ext cx="6705600" cy="5029200"/>
          </a:xfrm>
          <a:prstGeom prst="rect">
            <a:avLst/>
          </a:prstGeom>
        </p:spPr>
      </p:pic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0" y="2971800"/>
            <a:ext cx="12192000" cy="1168400"/>
          </a:xfrm>
          <a:prstGeom prst="rect">
            <a:avLst/>
          </a:prstGeom>
          <a:gradFill rotWithShape="1">
            <a:gsLst>
              <a:gs pos="0">
                <a:srgbClr val="5D85A9"/>
              </a:gs>
              <a:gs pos="100000">
                <a:srgbClr val="5D85A9">
                  <a:alpha val="2000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2400" baseline="-25000"/>
          </a:p>
        </p:txBody>
      </p:sp>
      <p:sp>
        <p:nvSpPr>
          <p:cNvPr id="6" name="Text Box 5"/>
          <p:cNvSpPr txBox="1">
            <a:spLocks noChangeArrowheads="1"/>
          </p:cNvSpPr>
          <p:nvPr userDrawn="1"/>
        </p:nvSpPr>
        <p:spPr bwMode="auto">
          <a:xfrm>
            <a:off x="-1727200" y="3187700"/>
            <a:ext cx="11607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3600" b="1" i="0" dirty="0">
                <a:ln>
                  <a:solidFill>
                    <a:schemeClr val="bg2">
                      <a:alpha val="52000"/>
                    </a:schemeClr>
                  </a:solidFill>
                </a:ln>
                <a:solidFill>
                  <a:srgbClr val="000000"/>
                </a:solidFill>
                <a:latin typeface="Tahoma" pitchFamily="34" charset="0"/>
                <a:ea typeface="+mn-ea"/>
              </a:rPr>
              <a:t>Questions and Answers</a:t>
            </a:r>
            <a:endParaRPr lang="en-US" sz="1400" b="1" i="0" dirty="0">
              <a:ln>
                <a:solidFill>
                  <a:schemeClr val="bg2">
                    <a:alpha val="52000"/>
                  </a:schemeClr>
                </a:solidFill>
              </a:ln>
              <a:solidFill>
                <a:srgbClr val="000000"/>
              </a:solidFill>
              <a:latin typeface="Verdana" pitchFamily="34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79882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RC_PPT_insideheader.png"/>
          <p:cNvPicPr>
            <a:picLocks noChangeAspect="1"/>
          </p:cNvPicPr>
          <p:nvPr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6378" r="1149"/>
          <a:stretch/>
        </p:blipFill>
        <p:spPr>
          <a:xfrm>
            <a:off x="10017211" y="0"/>
            <a:ext cx="2174789" cy="1255776"/>
          </a:xfrm>
          <a:prstGeom prst="rect">
            <a:avLst/>
          </a:prstGeom>
        </p:spPr>
      </p:pic>
      <p:sp>
        <p:nvSpPr>
          <p:cNvPr id="10" name="Rectangle 9"/>
          <p:cNvSpPr txBox="1">
            <a:spLocks noChangeArrowheads="1"/>
          </p:cNvSpPr>
          <p:nvPr/>
        </p:nvSpPr>
        <p:spPr bwMode="auto">
          <a:xfrm>
            <a:off x="7518400" y="6400800"/>
            <a:ext cx="447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 i="0">
                <a:solidFill>
                  <a:schemeClr val="bg1"/>
                </a:solidFill>
                <a:latin typeface="Tahoma" pitchFamily="84" charset="0"/>
              </a:defRPr>
            </a:lvl1pPr>
          </a:lstStyle>
          <a:p>
            <a:r>
              <a:rPr lang="en-US" sz="1200" b="1" dirty="0">
                <a:solidFill>
                  <a:srgbClr val="204C81"/>
                </a:solidFill>
              </a:rPr>
              <a:t>RELIABILITY | RESILIENCE</a:t>
            </a:r>
            <a:r>
              <a:rPr lang="en-US" sz="1200" b="1" baseline="0" dirty="0">
                <a:solidFill>
                  <a:srgbClr val="204C81"/>
                </a:solidFill>
              </a:rPr>
              <a:t> | SECURITY</a:t>
            </a:r>
            <a:endParaRPr lang="en-US" sz="1200" b="1" dirty="0">
              <a:solidFill>
                <a:srgbClr val="204C81"/>
              </a:solidFill>
            </a:endParaRPr>
          </a:p>
        </p:txBody>
      </p:sp>
      <p:sp>
        <p:nvSpPr>
          <p:cNvPr id="6" name="Rectangle 9"/>
          <p:cNvSpPr txBox="1">
            <a:spLocks noChangeArrowheads="1"/>
          </p:cNvSpPr>
          <p:nvPr/>
        </p:nvSpPr>
        <p:spPr bwMode="auto">
          <a:xfrm>
            <a:off x="609600" y="64008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 i="0">
                <a:solidFill>
                  <a:schemeClr val="bg1"/>
                </a:solidFill>
                <a:latin typeface="Tahoma" pitchFamily="84" charset="0"/>
              </a:defRPr>
            </a:lvl1pPr>
          </a:lstStyle>
          <a:p>
            <a:pPr algn="l"/>
            <a:fld id="{5F2A004B-6380-488C-8F66-3CBFEB92BB45}" type="slidenum">
              <a:rPr lang="en-US" sz="1200" b="1" smtClean="0">
                <a:solidFill>
                  <a:srgbClr val="204C81"/>
                </a:solidFill>
              </a:rPr>
              <a:pPr algn="l"/>
              <a:t>‹#›</a:t>
            </a:fld>
            <a:endParaRPr lang="en-US" sz="1200" b="1" dirty="0">
              <a:solidFill>
                <a:srgbClr val="204C81"/>
              </a:solidFill>
            </a:endParaRPr>
          </a:p>
        </p:txBody>
      </p:sp>
      <p:pic>
        <p:nvPicPr>
          <p:cNvPr id="8" name="Picture 7" descr="NERC_PPT_insideheader.png"/>
          <p:cNvPicPr>
            <a:picLocks noChangeAspect="1"/>
          </p:cNvPicPr>
          <p:nvPr userDrawn="1"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5983" r="20474"/>
          <a:stretch/>
        </p:blipFill>
        <p:spPr>
          <a:xfrm>
            <a:off x="1" y="0"/>
            <a:ext cx="10017210" cy="12557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81000" y="152400"/>
            <a:ext cx="2057400" cy="65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378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84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84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84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8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84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84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84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84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azure.com/nerc/LMWG_ResourcesTest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381000" y="1849369"/>
            <a:ext cx="9525000" cy="2875033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4400" b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eaLnBrk="1" hangingPunct="1">
              <a:lnSpc>
                <a:spcPct val="110000"/>
              </a:lnSpc>
              <a:defRPr/>
            </a:pPr>
            <a:r>
              <a:rPr lang="en-US" b="1" i="0" kern="0" dirty="0">
                <a:latin typeface="Tahoma" pitchFamily="84" charset="0"/>
              </a:rPr>
              <a:t>Hands on Training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sz="2400" i="0" kern="0" dirty="0">
                <a:latin typeface="Tahoma" pitchFamily="84" charset="0"/>
              </a:rPr>
              <a:t>Using LMWG Example Scripts to Develop Dynamic Load Records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sz="2400" i="0" kern="0" dirty="0">
                <a:latin typeface="Tahoma" pitchFamily="84" charset="0"/>
              </a:rPr>
              <a:t>(PSS®E Examples)</a:t>
            </a:r>
          </a:p>
          <a:p>
            <a:pPr eaLnBrk="1" hangingPunct="1">
              <a:lnSpc>
                <a:spcPct val="110000"/>
              </a:lnSpc>
              <a:defRPr/>
            </a:pPr>
            <a:endParaRPr lang="en-US" sz="2000" i="0" kern="0" dirty="0">
              <a:latin typeface="Tahoma" pitchFamily="84" charset="0"/>
            </a:endParaRPr>
          </a:p>
          <a:p>
            <a:pPr eaLnBrk="1" hangingPunct="1">
              <a:lnSpc>
                <a:spcPct val="110000"/>
              </a:lnSpc>
              <a:defRPr/>
            </a:pPr>
            <a:endParaRPr lang="en-US" sz="2000" i="0" kern="0" dirty="0">
              <a:latin typeface="Tahoma" pitchFamily="84" charset="0"/>
            </a:endParaRPr>
          </a:p>
          <a:p>
            <a:pPr lvl="0" eaLnBrk="1" hangingPunct="1">
              <a:lnSpc>
                <a:spcPct val="110000"/>
              </a:lnSpc>
              <a:defRPr/>
            </a:pPr>
            <a:r>
              <a:rPr lang="en-US" sz="2000" i="0" kern="0" dirty="0">
                <a:latin typeface="Tahoma" pitchFamily="84" charset="0"/>
              </a:rPr>
              <a:t>Patrick Harwood, NERC, Senior Engineer – Transmission Assessments</a:t>
            </a:r>
          </a:p>
          <a:p>
            <a:pPr lvl="0" eaLnBrk="1" hangingPunct="1">
              <a:lnSpc>
                <a:spcPct val="110000"/>
              </a:lnSpc>
              <a:defRPr/>
            </a:pPr>
            <a:endParaRPr lang="en-US" sz="2000" i="0" kern="0" dirty="0">
              <a:latin typeface="Tahoma" pitchFamily="84" charset="0"/>
            </a:endParaRPr>
          </a:p>
          <a:p>
            <a:pPr lvl="0" eaLnBrk="1" hangingPunct="1">
              <a:lnSpc>
                <a:spcPct val="110000"/>
              </a:lnSpc>
              <a:defRPr/>
            </a:pPr>
            <a:r>
              <a:rPr lang="en-US" sz="2000" i="0" kern="0" dirty="0">
                <a:latin typeface="Tahoma" pitchFamily="84" charset="0"/>
              </a:rPr>
              <a:t>2025 Dynamic Load Modeling Workshop</a:t>
            </a:r>
          </a:p>
          <a:p>
            <a:pPr lvl="0" eaLnBrk="1" hangingPunct="1">
              <a:lnSpc>
                <a:spcPct val="110000"/>
              </a:lnSpc>
              <a:defRPr/>
            </a:pPr>
            <a:r>
              <a:rPr lang="en-US" sz="2000" i="0" kern="0" dirty="0">
                <a:latin typeface="Tahoma" pitchFamily="84" charset="0"/>
              </a:rPr>
              <a:t>October 20,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F2BBF-C106-6CB1-B3EB-DE8B5569F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FE1652-D059-586F-D629-25016435C766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81000" y="1143000"/>
            <a:ext cx="11222568" cy="4846638"/>
          </a:xfrm>
        </p:spPr>
        <p:txBody>
          <a:bodyPr/>
          <a:lstStyle/>
          <a:p>
            <a:r>
              <a:rPr lang="en-US" dirty="0"/>
              <a:t>The legacy “LMDT Tool” is basically an Excel workbook that maps </a:t>
            </a:r>
            <a:r>
              <a:rPr lang="en-US" dirty="0" err="1"/>
              <a:t>powerflow</a:t>
            </a:r>
            <a:r>
              <a:rPr lang="en-US" dirty="0"/>
              <a:t> data to load composition data so that it can be exported to .DYR or .DYD formats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D5689D-8A74-5094-8696-1E43F0D9D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LMWG Workbook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FE8E048-4D1B-5D49-497F-9C5974F7D0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249127"/>
              </p:ext>
            </p:extLst>
          </p:nvPr>
        </p:nvGraphicFramePr>
        <p:xfrm>
          <a:off x="2844800" y="2169477"/>
          <a:ext cx="6502400" cy="4004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7589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>
          <a:xfrm>
            <a:off x="484716" y="1219200"/>
            <a:ext cx="11222568" cy="5105400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https://dev.azure.com/nerc/LMWG_ResourcesTest</a:t>
            </a:r>
            <a:endParaRPr lang="en-US" dirty="0"/>
          </a:p>
          <a:p>
            <a:r>
              <a:rPr lang="en-US" dirty="0"/>
              <a:t>LMWG has refreshed the Load Modeling Data Tool (LMDT) and provided new example implementations:</a:t>
            </a:r>
          </a:p>
          <a:p>
            <a:pPr lvl="1"/>
            <a:r>
              <a:rPr lang="en-US" sz="2400" dirty="0"/>
              <a:t>Separate workbooks for PSSE and PSLF</a:t>
            </a:r>
          </a:p>
          <a:p>
            <a:pPr lvl="1"/>
            <a:r>
              <a:rPr lang="en-US" sz="2400" dirty="0"/>
              <a:t>Excel Macro to export each workbook</a:t>
            </a:r>
          </a:p>
          <a:p>
            <a:pPr lvl="1"/>
            <a:r>
              <a:rPr lang="en-US" sz="2400" dirty="0"/>
              <a:t>Python “Win32” library-based exporter, which can run from PSSE</a:t>
            </a:r>
          </a:p>
          <a:p>
            <a:r>
              <a:rPr lang="en-US" dirty="0"/>
              <a:t>While you may use these examples as you see fit, they are not necessarily the best fit for every need – please improve and modify</a:t>
            </a:r>
          </a:p>
          <a:p>
            <a:r>
              <a:rPr lang="en-US" dirty="0"/>
              <a:t>Historical versions of the “LMDT Tool” and  the last LMDT Load Composition dataset can also be found at this repository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Note that </a:t>
            </a:r>
            <a:r>
              <a:rPr lang="en-US" dirty="0" err="1"/>
              <a:t>powerflow</a:t>
            </a:r>
            <a:r>
              <a:rPr lang="en-US" dirty="0"/>
              <a:t> data is not included in the repository to protect the confidentially of that data.  The provided workbooks are only templates.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LMWG Workbook Git Repository</a:t>
            </a:r>
          </a:p>
        </p:txBody>
      </p:sp>
    </p:spTree>
    <p:extLst>
      <p:ext uri="{BB962C8B-B14F-4D97-AF65-F5344CB8AC3E}">
        <p14:creationId xmlns:p14="http://schemas.microsoft.com/office/powerpoint/2010/main" val="1360751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06EFD3-8224-9DB7-2312-83B2D4C1BF8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You are the Planning Coordinator for Area 1 and Area 2 of the system</a:t>
            </a:r>
          </a:p>
          <a:p>
            <a:r>
              <a:rPr lang="en-US" dirty="0"/>
              <a:t>You have:</a:t>
            </a:r>
          </a:p>
          <a:p>
            <a:pPr lvl="1"/>
            <a:r>
              <a:rPr lang="en-US" dirty="0"/>
              <a:t>A system dynamics case (“Example1.sav” and “Example1_wCLOD.snp”) that contains </a:t>
            </a:r>
            <a:r>
              <a:rPr lang="en-US" b="1" dirty="0"/>
              <a:t>CLOD</a:t>
            </a:r>
            <a:r>
              <a:rPr lang="en-US" dirty="0"/>
              <a:t> models for your system.  </a:t>
            </a:r>
          </a:p>
          <a:p>
            <a:pPr lvl="1"/>
            <a:r>
              <a:rPr lang="en-US" dirty="0"/>
              <a:t>The workbook “NERC_LMWG_PSSE_Bus_wMacro_example1.xlsm” that contains a “</a:t>
            </a:r>
            <a:r>
              <a:rPr lang="en-US" dirty="0" err="1"/>
              <a:t>MasterLoadMapping</a:t>
            </a:r>
            <a:r>
              <a:rPr lang="en-US" dirty="0"/>
              <a:t>” worksheet to map of each load in the entire system to a load composition and feeder type</a:t>
            </a:r>
          </a:p>
          <a:p>
            <a:pPr lvl="1"/>
            <a:r>
              <a:rPr lang="en-US" dirty="0"/>
              <a:t>Load composition tables for each hour of Summer, Winter, and Spring seasons for the entire system</a:t>
            </a:r>
          </a:p>
          <a:p>
            <a:r>
              <a:rPr lang="en-US" dirty="0"/>
              <a:t>You need to produce:</a:t>
            </a:r>
          </a:p>
          <a:p>
            <a:pPr lvl="1"/>
            <a:r>
              <a:rPr lang="en-US" dirty="0"/>
              <a:t>A new dynamics case for a peak summer hour (hour ending 16) that uses the CMLD model for the loads on your system.</a:t>
            </a:r>
          </a:p>
          <a:p>
            <a:r>
              <a:rPr lang="en-US" dirty="0"/>
              <a:t>Can you build this model and demonstrate that it works?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54F8DC-CAC0-F6A5-B833-1F8FF8E97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PSSE Example Problem 1</a:t>
            </a:r>
          </a:p>
        </p:txBody>
      </p:sp>
    </p:spTree>
    <p:extLst>
      <p:ext uri="{BB962C8B-B14F-4D97-AF65-F5344CB8AC3E}">
        <p14:creationId xmlns:p14="http://schemas.microsoft.com/office/powerpoint/2010/main" val="971855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AEF5F4-10F0-B46D-44BC-B7DAE0EDA07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927550" y="1282293"/>
            <a:ext cx="3251198" cy="4846638"/>
          </a:xfrm>
        </p:spPr>
        <p:txBody>
          <a:bodyPr/>
          <a:lstStyle/>
          <a:p>
            <a:r>
              <a:rPr lang="en-US" dirty="0"/>
              <a:t>Step 1a:  copy and paste Load Compositions values from the latest dataset for the desired hour (here, Hour Ending 16).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CFFC19-DEFC-9888-5B43-B127D9F2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PSSE Example Problem 1 – A Potential Solution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771A4B-83DE-3AF2-C4C1-6090D7410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4934"/>
            <a:ext cx="8767075" cy="522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880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A6744C-104D-A969-34C8-4A48AB2AED39}"/>
              </a:ext>
            </a:extLst>
          </p:cNvPr>
          <p:cNvPicPr>
            <a:picLocks noGrp="1" noChangeAspect="1"/>
          </p:cNvPicPr>
          <p:nvPr>
            <p:ph sz="half" idx="10"/>
          </p:nvPr>
        </p:nvPicPr>
        <p:blipFill>
          <a:blip r:embed="rId2"/>
          <a:stretch>
            <a:fillRect/>
          </a:stretch>
        </p:blipFill>
        <p:spPr>
          <a:xfrm>
            <a:off x="228600" y="1143000"/>
            <a:ext cx="7904213" cy="484663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EA55540-5D1D-1AF6-393F-FEC198966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PSSE Example Problem 1 – A Potential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A796E4-973B-B5C4-D4DB-75972405621A}"/>
              </a:ext>
            </a:extLst>
          </p:cNvPr>
          <p:cNvSpPr txBox="1"/>
          <p:nvPr/>
        </p:nvSpPr>
        <p:spPr>
          <a:xfrm>
            <a:off x="8229600" y="1524000"/>
            <a:ext cx="383058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Step 1b: paste them into your “NERC_LMWG_PSSE_Bus_wMacro_example1.xlsm” workbook, “</a:t>
            </a:r>
            <a:r>
              <a:rPr lang="en-US" sz="2000" i="0" dirty="0" err="1"/>
              <a:t>LoadComp</a:t>
            </a:r>
            <a:r>
              <a:rPr lang="en-US" sz="2000" i="0" dirty="0"/>
              <a:t>” tab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2DD885-72FF-6592-CAA1-AB7BEDACF7C7}"/>
              </a:ext>
            </a:extLst>
          </p:cNvPr>
          <p:cNvSpPr txBox="1"/>
          <p:nvPr/>
        </p:nvSpPr>
        <p:spPr>
          <a:xfrm>
            <a:off x="8361413" y="4038600"/>
            <a:ext cx="383058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Note: if you had already made a combined copy of all the HE16 Summer load compositions for your system, you could just reuse that workbook. </a:t>
            </a:r>
          </a:p>
        </p:txBody>
      </p:sp>
    </p:spTree>
    <p:extLst>
      <p:ext uri="{BB962C8B-B14F-4D97-AF65-F5344CB8AC3E}">
        <p14:creationId xmlns:p14="http://schemas.microsoft.com/office/powerpoint/2010/main" val="2111762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6E1DF-7067-4313-47D2-C63D5E1FE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8A6EDA-5809-DCF2-B58E-1CBCE7235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PSSE Example Problem 1 – A Potential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87711D-A6C9-83CB-B5D6-C6A675A3C8EC}"/>
              </a:ext>
            </a:extLst>
          </p:cNvPr>
          <p:cNvSpPr txBox="1"/>
          <p:nvPr/>
        </p:nvSpPr>
        <p:spPr>
          <a:xfrm>
            <a:off x="8516417" y="1295400"/>
            <a:ext cx="367558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Step 2: Open PSSE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Load “Example1.sav”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Convert Generators and Loads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Solve for </a:t>
            </a:r>
            <a:r>
              <a:rPr lang="en-US" sz="2000" i="0" dirty="0" err="1"/>
              <a:t>Swtiching</a:t>
            </a:r>
            <a:endParaRPr lang="en-US" sz="2000" i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Save as “.</a:t>
            </a:r>
            <a:r>
              <a:rPr lang="en-US" sz="2000" i="0" dirty="0" err="1"/>
              <a:t>cnv</a:t>
            </a:r>
            <a:r>
              <a:rPr lang="en-US" sz="2000" i="0" dirty="0"/>
              <a:t>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Filter by subsystem (Area 1 and Area 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Copy entire “Bus” table into your workbook, table “BusTable_PSSEv35”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Copy entire “Load” table into your workbook, table “LoadTable_PSSEv35”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15AD23-8C65-8B0B-5AF1-CC84C04E1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68" y="1066800"/>
            <a:ext cx="8332749" cy="524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78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79789-CE2A-C913-40D5-146BE7E3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871F0C-76EF-1B47-44D9-784A0F42C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PSSE Example Problem 1 – A Potential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234E8-FB4A-69E2-FEEE-E08C769841DD}"/>
              </a:ext>
            </a:extLst>
          </p:cNvPr>
          <p:cNvSpPr txBox="1"/>
          <p:nvPr/>
        </p:nvSpPr>
        <p:spPr>
          <a:xfrm>
            <a:off x="8229600" y="1524000"/>
            <a:ext cx="383058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Step 3: Check the “</a:t>
            </a:r>
            <a:r>
              <a:rPr lang="en-US" sz="2000" i="0" dirty="0" err="1"/>
              <a:t>PowerFlow</a:t>
            </a:r>
            <a:r>
              <a:rPr lang="en-US" sz="2000" i="0" dirty="0"/>
              <a:t>” tab of your workbook.  The formulas on this tab should automatically populate it.  (If you need to modify, you may have to “unprotect” the worksheet.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2604BC-C80E-A459-9C84-E34E8E535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3885"/>
            <a:ext cx="8599669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572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CC279-7DC7-3155-B051-44EA2CDD4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AEEDA8-D765-9E3E-7B8E-A492A580D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PSSE Example Problem 1 – A Potential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A28F98-66E4-F710-BBC5-05A11EB50AF3}"/>
              </a:ext>
            </a:extLst>
          </p:cNvPr>
          <p:cNvSpPr txBox="1"/>
          <p:nvPr/>
        </p:nvSpPr>
        <p:spPr>
          <a:xfrm>
            <a:off x="8666211" y="1763793"/>
            <a:ext cx="352578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Step 4: Move to the “LMWG” tab of your workbook, and set your desired thresholds for writing composite load models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D9E708-E842-A798-A475-680CE8E95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20" y="1073885"/>
            <a:ext cx="8594691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000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43FF3-483F-E58C-E0EE-470CFEC73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BFF9B0-8BE3-83C9-BCDB-F75DC1A8A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PSSE Example Problem 1 – A Potential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9F6C74-0B2F-6624-DD65-92B8335D98C0}"/>
              </a:ext>
            </a:extLst>
          </p:cNvPr>
          <p:cNvSpPr txBox="1"/>
          <p:nvPr/>
        </p:nvSpPr>
        <p:spPr>
          <a:xfrm>
            <a:off x="8590015" y="2928563"/>
            <a:ext cx="329718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Step 5:  Click the button to export the .</a:t>
            </a:r>
            <a:r>
              <a:rPr lang="en-US" sz="2000" i="0" dirty="0" err="1"/>
              <a:t>dyr</a:t>
            </a:r>
            <a:r>
              <a:rPr lang="en-US" sz="2000" i="0" dirty="0"/>
              <a:t> 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You can now close the workbook for the time-being.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3EB5CF-C9EF-5A94-A15A-8278A82D1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13" y="1066800"/>
            <a:ext cx="8295055" cy="508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532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0AD29-2B31-A653-44C4-660A05F2C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0B6E01-423B-4138-C4BB-396584F7A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PSSE Example Problem 1 – A Potential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EA56A3-4357-442F-00FF-4334B6D44AE1}"/>
              </a:ext>
            </a:extLst>
          </p:cNvPr>
          <p:cNvSpPr txBox="1"/>
          <p:nvPr/>
        </p:nvSpPr>
        <p:spPr>
          <a:xfrm>
            <a:off x="1371600" y="5181600"/>
            <a:ext cx="1051560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Step 6: Return to PSSE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Load your full dynamics model (“Example1_wCLOD.dyr”)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You will have to remove CLOD and any other Load Characteristic models from your areas before importing your CMLD .</a:t>
            </a:r>
            <a:r>
              <a:rPr lang="en-US" sz="2000" i="0" dirty="0" err="1"/>
              <a:t>dyr</a:t>
            </a:r>
            <a:endParaRPr lang="en-US" sz="2000" i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Run “Remove_LoadCh_Models.py” to do this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4352E4-8175-8EEC-19D1-8F42FD15F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90600"/>
            <a:ext cx="11127036" cy="409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90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EECDD-C295-C2C8-1328-CBFED7680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2D6A78-454C-86A0-1DF2-FEAFF80B1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PSSE Example Problem 1 – A Potential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808734-8926-2FE8-54FB-A73BCAA1F6C4}"/>
              </a:ext>
            </a:extLst>
          </p:cNvPr>
          <p:cNvSpPr txBox="1"/>
          <p:nvPr/>
        </p:nvSpPr>
        <p:spPr>
          <a:xfrm>
            <a:off x="152400" y="1676400"/>
            <a:ext cx="32004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Step 7: Open your CMLD dynamics files (“Example1_5MW.dyr”)</a:t>
            </a:r>
          </a:p>
          <a:p>
            <a:endParaRPr lang="en-US" sz="2000" i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Note: Make sure to select “Add Dynamics Data file”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You can now save the dynamics snapshot and/or .</a:t>
            </a:r>
            <a:r>
              <a:rPr lang="en-US" sz="2000" i="0" dirty="0" err="1"/>
              <a:t>dyr</a:t>
            </a:r>
            <a:r>
              <a:rPr lang="en-US" sz="2000" i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CC18BC-84A9-361F-498F-BDE596B4C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236" y="1447800"/>
            <a:ext cx="8420966" cy="436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28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4F8C2-11AA-FDC6-E2D0-CB5F83A30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7DDE22-B544-5C68-0C1E-8B764AF1D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PSSE Example Problem 1 – A Potential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FB9CF1-1FDD-7562-9EB0-E9783495E702}"/>
              </a:ext>
            </a:extLst>
          </p:cNvPr>
          <p:cNvSpPr txBox="1"/>
          <p:nvPr/>
        </p:nvSpPr>
        <p:spPr>
          <a:xfrm>
            <a:off x="301274" y="1119187"/>
            <a:ext cx="513094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You’re almost done…but wait…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Step 8: Don’t forget to test your files in a simulation!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Run “run_Simulation_Ex1.bat” and “CreatePlots_Ex1.bat”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996A1B-80FC-C107-B541-4ECD0B5F8065}"/>
              </a:ext>
            </a:extLst>
          </p:cNvPr>
          <p:cNvSpPr txBox="1"/>
          <p:nvPr/>
        </p:nvSpPr>
        <p:spPr>
          <a:xfrm>
            <a:off x="329820" y="3224087"/>
            <a:ext cx="52824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Simulation Tip:</a:t>
            </a:r>
          </a:p>
          <a:p>
            <a:r>
              <a:rPr lang="en-US" sz="2000" i="0" dirty="0"/>
              <a:t>You can set the load model threshold to the same values as your workbook.  Load models not meeting the thresholds will be turned off at initialization.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3B3C88-BA87-54F0-CE0E-714DDD90D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50813"/>
            <a:ext cx="12044303" cy="6556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6A24A1-04E6-E3AC-6D4A-293A35E05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606" y="1019868"/>
            <a:ext cx="6020322" cy="39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984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9940DD-E707-2D73-6E7D-92F94335B03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What happened around 30 seconds?  Can you correct anything in your CMLD workbook to resolve it?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DBE56D-EF6E-7111-4B8D-90ED82E95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PSSE Example Problem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B240B9-DD1E-2BAD-FFBB-59F1A5B48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364468"/>
            <a:ext cx="2997197" cy="380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725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D0CB9-03DF-526F-BCC1-A8CFC6C2B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FEBD8C-4FD9-4798-165D-59CB6794E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PSSE Example Problem 2 – A Potential 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01BB06-5B7F-A5D9-9B53-5C1B4D4D5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491" y="1182012"/>
            <a:ext cx="3886537" cy="10135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5A999C-25B3-5CF2-CC4F-EFD273A3CECC}"/>
              </a:ext>
            </a:extLst>
          </p:cNvPr>
          <p:cNvSpPr txBox="1"/>
          <p:nvPr/>
        </p:nvSpPr>
        <p:spPr>
          <a:xfrm>
            <a:off x="228600" y="990022"/>
            <a:ext cx="513094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Step 1: Review the simulation logs to see potential sources of errors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Here, it looks like LTCs are moving around 35 seconds, with </a:t>
            </a:r>
            <a:r>
              <a:rPr lang="en-US" sz="2000" i="0"/>
              <a:t>timers triggering </a:t>
            </a:r>
            <a:r>
              <a:rPr lang="en-US" sz="2000" i="0" dirty="0"/>
              <a:t>around 30 seconds.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Check the values in the case and workbook.  Here, it looks like initial bus voltages are outside of LTC targets.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8C8A43-ED84-587B-E094-9CC864341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985" y="2655526"/>
            <a:ext cx="6562721" cy="10135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61820D-4791-C644-362E-6CB685646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645" y="4163827"/>
            <a:ext cx="11888230" cy="224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162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B9F9C-3C87-A06E-1BCF-838B5173F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93357E-DCBA-F9B7-1806-C333FE519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PSSE Example Problem 2 – A Potential 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BE3779-6073-63CA-89D4-218CE829DB63}"/>
              </a:ext>
            </a:extLst>
          </p:cNvPr>
          <p:cNvSpPr txBox="1"/>
          <p:nvPr/>
        </p:nvSpPr>
        <p:spPr>
          <a:xfrm>
            <a:off x="228600" y="990022"/>
            <a:ext cx="11353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Step 2: Develop a list of new Feeder values for each bus. </a:t>
            </a:r>
          </a:p>
          <a:p>
            <a:endParaRPr lang="en-US" sz="2000" i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See “Example2_LTC_Corrections.xlsx” for an example of how to do this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Here, assume that the step-down transformers were not modeled in your system, but most do in fact have LTC control.  Feeder_01 parameters are a fair representation of your system, but the initial low-side fixed tap settings could be adjusted to better tune the load-side voltages.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39AC0B-160D-B572-A7DC-B149C6FB4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197064"/>
            <a:ext cx="9243861" cy="168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734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AFC53-A20C-0751-A74A-8DBF486E3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26625D-903E-26A1-D54B-73CC9791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PSSE Example Problem 2 – A Potential 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296011-9B53-813B-C8AB-BF7F636B1C25}"/>
              </a:ext>
            </a:extLst>
          </p:cNvPr>
          <p:cNvSpPr txBox="1"/>
          <p:nvPr/>
        </p:nvSpPr>
        <p:spPr>
          <a:xfrm>
            <a:off x="419100" y="1219200"/>
            <a:ext cx="11353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Step 3: Copy and paste new Feeder values into the “Feeder” tab of your LMWG workbook (append the list of feeders)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7C6D94-00D2-2E05-7454-0D7E5345F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3518"/>
            <a:ext cx="12192000" cy="267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697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75CF7F-EEA7-AA2C-C6FA-229B8E758D6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61432" y="1325562"/>
            <a:ext cx="11222568" cy="655638"/>
          </a:xfrm>
        </p:spPr>
        <p:txBody>
          <a:bodyPr/>
          <a:lstStyle/>
          <a:p>
            <a:r>
              <a:rPr lang="en-US" dirty="0"/>
              <a:t>Step 4: Click the button to export a revised .</a:t>
            </a:r>
            <a:r>
              <a:rPr lang="en-US" dirty="0" err="1"/>
              <a:t>dyr</a:t>
            </a:r>
            <a:r>
              <a:rPr lang="en-US" dirty="0"/>
              <a:t> file.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B41879-3BFD-9A1E-F23A-D5E73CF51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PSSE Example Problem 2 – A Potential 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EF232F-9C15-7C7F-7DDE-1FBE76489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209800"/>
            <a:ext cx="8489416" cy="297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87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36074-A3F6-ABDF-8909-644F5D9DF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1C9A6E-FDC8-04B1-5D3F-349A0E9254AA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61432" y="1325562"/>
            <a:ext cx="11222568" cy="655638"/>
          </a:xfrm>
        </p:spPr>
        <p:txBody>
          <a:bodyPr/>
          <a:lstStyle/>
          <a:p>
            <a:r>
              <a:rPr lang="en-US" dirty="0"/>
              <a:t>Step 5: Using the same process as in Example 1, steps 6 and 7, combine the new CMLD .</a:t>
            </a:r>
            <a:r>
              <a:rPr lang="en-US" dirty="0" err="1"/>
              <a:t>dyr</a:t>
            </a:r>
            <a:r>
              <a:rPr lang="en-US" dirty="0"/>
              <a:t> with the dynamics data for the rest of your system to create a new .</a:t>
            </a:r>
            <a:r>
              <a:rPr lang="en-US" dirty="0" err="1"/>
              <a:t>snp</a:t>
            </a:r>
            <a:r>
              <a:rPr lang="en-US" dirty="0"/>
              <a:t> and/or .</a:t>
            </a:r>
            <a:r>
              <a:rPr lang="en-US" dirty="0" err="1"/>
              <a:t>dyr</a:t>
            </a:r>
            <a:r>
              <a:rPr lang="en-US" dirty="0"/>
              <a:t> to test in a simulation.</a:t>
            </a:r>
          </a:p>
          <a:p>
            <a:endParaRPr lang="en-US" dirty="0"/>
          </a:p>
          <a:p>
            <a:pPr lvl="1"/>
            <a:r>
              <a:rPr lang="en-US" dirty="0"/>
              <a:t>(Remove old Load Characteristic Models)</a:t>
            </a:r>
          </a:p>
          <a:p>
            <a:pPr lvl="1"/>
            <a:r>
              <a:rPr lang="en-US" dirty="0"/>
              <a:t>(Add new CMLD .</a:t>
            </a:r>
            <a:r>
              <a:rPr lang="en-US" dirty="0" err="1"/>
              <a:t>dyr</a:t>
            </a:r>
            <a:r>
              <a:rPr lang="en-US" dirty="0"/>
              <a:t> to case)</a:t>
            </a:r>
          </a:p>
          <a:p>
            <a:pPr lvl="1"/>
            <a:r>
              <a:rPr lang="en-US" dirty="0"/>
              <a:t>(Save as new snapshot and/or .</a:t>
            </a:r>
            <a:r>
              <a:rPr lang="en-US" dirty="0" err="1"/>
              <a:t>dyr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“Example2-TfixLS.snp”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3469AB-08F5-13C9-7FF6-12044B550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PSSE Example Problem 2 – A Potential Solution</a:t>
            </a:r>
          </a:p>
        </p:txBody>
      </p:sp>
    </p:spTree>
    <p:extLst>
      <p:ext uri="{BB962C8B-B14F-4D97-AF65-F5344CB8AC3E}">
        <p14:creationId xmlns:p14="http://schemas.microsoft.com/office/powerpoint/2010/main" val="2982544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DC32C-6A48-0F43-B925-3B7621FAC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EF1AB3-E2F8-0EE1-9BB5-B260D473FE60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61432" y="1325562"/>
            <a:ext cx="11222568" cy="3170238"/>
          </a:xfrm>
        </p:spPr>
        <p:txBody>
          <a:bodyPr/>
          <a:lstStyle/>
          <a:p>
            <a:r>
              <a:rPr lang="en-US" dirty="0"/>
              <a:t>Step 6: Test in a simulation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Here is an example:</a:t>
            </a:r>
          </a:p>
          <a:p>
            <a:r>
              <a:rPr lang="en-US" dirty="0"/>
              <a:t>“run_Simulation_Ex2.bat”</a:t>
            </a:r>
          </a:p>
          <a:p>
            <a:r>
              <a:rPr lang="en-US" dirty="0"/>
              <a:t>“CreatePlots_Ex2.bat”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77693C-B24B-C99B-210D-5F90C0643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PSSE Example Problem 2 – A Potential 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CE58FF-0C7E-47D6-BBF5-513FECF75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066800"/>
            <a:ext cx="4599170" cy="5340971"/>
          </a:xfrm>
          <a:prstGeom prst="rect">
            <a:avLst/>
          </a:prstGeom>
        </p:spPr>
      </p:pic>
      <p:pic>
        <p:nvPicPr>
          <p:cNvPr id="7" name="Picture 6" descr="High Five Bee">
            <a:extLst>
              <a:ext uri="{FF2B5EF4-FFF2-40B4-BE49-F238E27FC236}">
                <a16:creationId xmlns:a16="http://schemas.microsoft.com/office/drawing/2014/main" id="{28B4A8B3-D599-B755-39AC-5D42B32782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3324871"/>
            <a:ext cx="3049770" cy="30497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4A6D6D-0CB7-7E21-D66D-E922A22D06C1}"/>
              </a:ext>
            </a:extLst>
          </p:cNvPr>
          <p:cNvSpPr txBox="1"/>
          <p:nvPr/>
        </p:nvSpPr>
        <p:spPr>
          <a:xfrm>
            <a:off x="888461" y="4034135"/>
            <a:ext cx="1826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did it!</a:t>
            </a:r>
          </a:p>
        </p:txBody>
      </p:sp>
    </p:spTree>
    <p:extLst>
      <p:ext uri="{BB962C8B-B14F-4D97-AF65-F5344CB8AC3E}">
        <p14:creationId xmlns:p14="http://schemas.microsoft.com/office/powerpoint/2010/main" val="1075489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3FB7-D6F3-5098-3F90-E8C5652BA59A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a more python-based approach rather than having to make updates to the Excel Workbook:</a:t>
            </a:r>
          </a:p>
          <a:p>
            <a:endParaRPr lang="en-US" dirty="0"/>
          </a:p>
          <a:p>
            <a:r>
              <a:rPr lang="en-US" dirty="0"/>
              <a:t>LMWG_Write_CMLD_DYR_PSSE.py (instead of copying tabs from PSSE and using Excel macro to export the .</a:t>
            </a:r>
            <a:r>
              <a:rPr lang="en-US" dirty="0" err="1"/>
              <a:t>dyr</a:t>
            </a:r>
            <a:r>
              <a:rPr lang="en-US" dirty="0"/>
              <a:t>)</a:t>
            </a:r>
          </a:p>
          <a:p>
            <a:r>
              <a:rPr lang="en-US" dirty="0"/>
              <a:t>Correct_Feeder1_FixedTaps.py (instead of creating a separate spreadsheet)</a:t>
            </a:r>
          </a:p>
          <a:p>
            <a:r>
              <a:rPr lang="en-US" dirty="0"/>
              <a:t>Optional:  ExportDYR_Lodchr.py (to save a copy to the corrected CMLD models)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52D961-615B-4C07-11C4-2F0EA0D2F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 and 2 – Alternate Approach</a:t>
            </a:r>
          </a:p>
        </p:txBody>
      </p:sp>
    </p:spTree>
    <p:extLst>
      <p:ext uri="{BB962C8B-B14F-4D97-AF65-F5344CB8AC3E}">
        <p14:creationId xmlns:p14="http://schemas.microsoft.com/office/powerpoint/2010/main" val="36875041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FB12-DE25-D981-E7D4-FDD9725E593B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61432" y="1325562"/>
            <a:ext cx="5745978" cy="4846638"/>
          </a:xfrm>
        </p:spPr>
        <p:txBody>
          <a:bodyPr/>
          <a:lstStyle/>
          <a:p>
            <a:r>
              <a:rPr lang="en-US" dirty="0"/>
              <a:t>Step 1: Open PSSE and load the case (“Example1.cnv”)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Step 2: Create a Bus subsystem of for the loads that you would like to export CMLD records (in this example, Areas 1 and 2).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D006AA-9F46-5194-DA14-F470DD4AF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 and 2 – Alternate Approach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6AEED0-E569-F8F9-EFF3-79C719693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964" y="1325562"/>
            <a:ext cx="5745978" cy="482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3794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7BCEE-816D-B970-C78A-689BB7BC8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492ABA-C007-DB98-312A-9B125CFAE0F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61432" y="1325562"/>
            <a:ext cx="5745978" cy="4846638"/>
          </a:xfrm>
        </p:spPr>
        <p:txBody>
          <a:bodyPr/>
          <a:lstStyle/>
          <a:p>
            <a:r>
              <a:rPr lang="en-US" dirty="0"/>
              <a:t>Step 3: Run Automation file, and choose “LMWG_Write_CMLD_DYR_PSSE.py”</a:t>
            </a:r>
          </a:p>
          <a:p>
            <a:r>
              <a:rPr lang="en-US" dirty="0"/>
              <a:t>Select your LMWG workbook.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4DF36D-18A5-573C-5023-55CBC11FF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 and 2 – Alternate Approach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AC7164-93DB-B9B7-7EF6-807D1E995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36" y="2667000"/>
            <a:ext cx="7221247" cy="37530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E472AC-9097-8CAB-A4EF-83BA207C0D33}"/>
              </a:ext>
            </a:extLst>
          </p:cNvPr>
          <p:cNvSpPr txBox="1"/>
          <p:nvPr/>
        </p:nvSpPr>
        <p:spPr>
          <a:xfrm>
            <a:off x="7745626" y="990600"/>
            <a:ext cx="415482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Notes:</a:t>
            </a:r>
          </a:p>
          <a:p>
            <a:r>
              <a:rPr lang="en-US" i="0" dirty="0">
                <a:latin typeface="+mj-lt"/>
              </a:rPr>
              <a:t>The “</a:t>
            </a:r>
            <a:r>
              <a:rPr lang="en-US" i="0" dirty="0" err="1">
                <a:latin typeface="+mj-lt"/>
              </a:rPr>
              <a:t>MasterLoadMapping</a:t>
            </a:r>
            <a:r>
              <a:rPr lang="en-US" i="0" dirty="0">
                <a:latin typeface="+mj-lt"/>
              </a:rPr>
              <a:t>” tab must have a bus number, load id, Feeder, and </a:t>
            </a:r>
            <a:r>
              <a:rPr lang="en-US" i="0" dirty="0" err="1">
                <a:latin typeface="+mj-lt"/>
              </a:rPr>
              <a:t>LoadComp</a:t>
            </a:r>
            <a:r>
              <a:rPr lang="en-US" i="0" dirty="0">
                <a:latin typeface="+mj-lt"/>
              </a:rPr>
              <a:t> for each load in your bus subsystem that meets thresholds, or else it will not be written to the .</a:t>
            </a:r>
            <a:r>
              <a:rPr lang="en-US" i="0" dirty="0" err="1">
                <a:latin typeface="+mj-lt"/>
              </a:rPr>
              <a:t>dyr</a:t>
            </a:r>
            <a:r>
              <a:rPr lang="en-US" i="0" dirty="0">
                <a:latin typeface="+mj-lt"/>
              </a:rPr>
              <a:t>.</a:t>
            </a:r>
          </a:p>
          <a:p>
            <a:endParaRPr lang="en-US" i="0" dirty="0">
              <a:latin typeface="+mj-lt"/>
            </a:endParaRPr>
          </a:p>
          <a:p>
            <a:r>
              <a:rPr lang="en-US" i="0" dirty="0">
                <a:latin typeface="+mj-lt"/>
              </a:rPr>
              <a:t>You do not need to update the “</a:t>
            </a:r>
            <a:r>
              <a:rPr lang="en-US" i="0" dirty="0" err="1">
                <a:latin typeface="+mj-lt"/>
              </a:rPr>
              <a:t>PowerFlow</a:t>
            </a:r>
            <a:r>
              <a:rPr lang="en-US" i="0" dirty="0">
                <a:latin typeface="+mj-lt"/>
              </a:rPr>
              <a:t>” tab with this python script.</a:t>
            </a:r>
          </a:p>
          <a:p>
            <a:endParaRPr lang="en-US" i="0" dirty="0">
              <a:latin typeface="+mj-lt"/>
            </a:endParaRPr>
          </a:p>
          <a:p>
            <a:r>
              <a:rPr lang="en-US" i="0" dirty="0">
                <a:latin typeface="+mj-lt"/>
              </a:rPr>
              <a:t>It may take a minute or so for this script to run</a:t>
            </a:r>
          </a:p>
          <a:p>
            <a:r>
              <a:rPr lang="en-US" i="0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3003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3F5A41-6DCF-2297-FEE9-2F21FD24269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Step 4: Using the same process as in Example 1, steps 6 and 7, combine the new CMLD .</a:t>
            </a:r>
            <a:r>
              <a:rPr lang="en-US" dirty="0" err="1"/>
              <a:t>dyr</a:t>
            </a:r>
            <a:r>
              <a:rPr lang="en-US" dirty="0"/>
              <a:t> with the dynamics data for the rest of your system.</a:t>
            </a:r>
          </a:p>
          <a:p>
            <a:endParaRPr lang="en-US" dirty="0"/>
          </a:p>
          <a:p>
            <a:pPr lvl="1"/>
            <a:r>
              <a:rPr lang="en-US" dirty="0"/>
              <a:t>(Remove old Load Characteristic Models -- Remove_LoadCh_Models.py)</a:t>
            </a:r>
          </a:p>
          <a:p>
            <a:pPr lvl="1"/>
            <a:r>
              <a:rPr lang="en-US" dirty="0"/>
              <a:t>(Add the new CMLD .</a:t>
            </a:r>
            <a:r>
              <a:rPr lang="en-US" dirty="0" err="1"/>
              <a:t>dyr</a:t>
            </a:r>
            <a:r>
              <a:rPr lang="en-US" dirty="0"/>
              <a:t> to case)</a:t>
            </a:r>
          </a:p>
          <a:p>
            <a:pPr lvl="1"/>
            <a:r>
              <a:rPr lang="en-US" dirty="0"/>
              <a:t>(Save as new snapshot and/or .</a:t>
            </a:r>
            <a:r>
              <a:rPr lang="en-US" dirty="0" err="1"/>
              <a:t>dyr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E1F599-C259-E8F8-8EA0-5BEEF73A2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 and 2 – Alternate Approach</a:t>
            </a:r>
          </a:p>
        </p:txBody>
      </p:sp>
    </p:spTree>
    <p:extLst>
      <p:ext uri="{BB962C8B-B14F-4D97-AF65-F5344CB8AC3E}">
        <p14:creationId xmlns:p14="http://schemas.microsoft.com/office/powerpoint/2010/main" val="702135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24D04-4E8E-1B1E-8E36-6F56D8A0D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9D70E4-A899-6F40-3A98-7B4D2E579A31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Step 5: Run Automation File, and select “Correct_Feeder1_FixedTaps.py” to fix the low-side fixed tap settings of the transformers within the CMLD models of your system</a:t>
            </a:r>
          </a:p>
          <a:p>
            <a:endParaRPr lang="en-US" dirty="0"/>
          </a:p>
          <a:p>
            <a:r>
              <a:rPr lang="en-US" dirty="0"/>
              <a:t> You can now save the snapshot and/or .</a:t>
            </a:r>
            <a:r>
              <a:rPr lang="en-US" dirty="0" err="1"/>
              <a:t>dyr</a:t>
            </a:r>
            <a:r>
              <a:rPr lang="en-US" dirty="0"/>
              <a:t> for use with simulations</a:t>
            </a:r>
          </a:p>
          <a:p>
            <a:endParaRPr lang="en-US" dirty="0"/>
          </a:p>
          <a:p>
            <a:r>
              <a:rPr lang="en-US" dirty="0"/>
              <a:t>Optionally, run automation file and select “ExportDYR_Lodchr.py” to save a .</a:t>
            </a:r>
            <a:r>
              <a:rPr lang="en-US" dirty="0" err="1"/>
              <a:t>dyr</a:t>
            </a:r>
            <a:r>
              <a:rPr lang="en-US" dirty="0"/>
              <a:t> of just the corrected CMLD models (may be useful for later)</a:t>
            </a:r>
          </a:p>
          <a:p>
            <a:endParaRPr lang="en-US" dirty="0"/>
          </a:p>
          <a:p>
            <a:r>
              <a:rPr lang="en-US" dirty="0"/>
              <a:t>(Step 6: Test with a simulation.)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C4C7D1-810D-6729-7616-93B36A27D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 and 2 – Alternate Approach</a:t>
            </a:r>
          </a:p>
        </p:txBody>
      </p:sp>
    </p:spTree>
    <p:extLst>
      <p:ext uri="{BB962C8B-B14F-4D97-AF65-F5344CB8AC3E}">
        <p14:creationId xmlns:p14="http://schemas.microsoft.com/office/powerpoint/2010/main" val="210315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map of the united states&#10;&#10;Description automatically generated">
            <a:extLst>
              <a:ext uri="{FF2B5EF4-FFF2-40B4-BE49-F238E27FC236}">
                <a16:creationId xmlns:a16="http://schemas.microsoft.com/office/drawing/2014/main" id="{3BEDB18C-986D-57E2-F042-74E2358138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024638"/>
            <a:ext cx="7379222" cy="5062724"/>
          </a:xfrm>
          <a:prstGeom prst="rect">
            <a:avLst/>
          </a:prstGeom>
        </p:spPr>
      </p:pic>
      <p:sp>
        <p:nvSpPr>
          <p:cNvPr id="17411" name="Rectangle 4"/>
          <p:cNvSpPr>
            <a:spLocks noChangeArrowheads="1"/>
          </p:cNvSpPr>
          <p:nvPr/>
        </p:nvSpPr>
        <p:spPr bwMode="auto">
          <a:xfrm>
            <a:off x="0" y="2971800"/>
            <a:ext cx="12192000" cy="1168400"/>
          </a:xfrm>
          <a:prstGeom prst="rect">
            <a:avLst/>
          </a:prstGeom>
          <a:gradFill rotWithShape="1">
            <a:gsLst>
              <a:gs pos="0">
                <a:srgbClr val="5D85A9"/>
              </a:gs>
              <a:gs pos="100000">
                <a:srgbClr val="5D85A9">
                  <a:alpha val="2000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aseline="-25000"/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-228600" y="3137090"/>
            <a:ext cx="87058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3600" b="1" i="0" dirty="0">
                <a:ln>
                  <a:solidFill>
                    <a:schemeClr val="bg2">
                      <a:alpha val="52000"/>
                    </a:schemeClr>
                  </a:solidFill>
                </a:ln>
                <a:solidFill>
                  <a:srgbClr val="000000"/>
                </a:solidFill>
                <a:latin typeface="Tahoma" pitchFamily="34" charset="0"/>
                <a:ea typeface="+mn-ea"/>
              </a:rPr>
              <a:t>Questions and Answers</a:t>
            </a:r>
            <a:endParaRPr lang="en-US" sz="1400" b="1" i="0" dirty="0">
              <a:ln>
                <a:solidFill>
                  <a:schemeClr val="bg2">
                    <a:alpha val="52000"/>
                  </a:schemeClr>
                </a:solidFill>
              </a:ln>
              <a:solidFill>
                <a:srgbClr val="000000"/>
              </a:solidFill>
              <a:latin typeface="Verdana" pitchFamily="34" charset="0"/>
              <a:ea typeface="+mn-ea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NERCTheme">
  <a:themeElements>
    <a:clrScheme name="Custom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204C81"/>
      </a:accent1>
      <a:accent2>
        <a:srgbClr val="5D85A9"/>
      </a:accent2>
      <a:accent3>
        <a:srgbClr val="FFFFFF"/>
      </a:accent3>
      <a:accent4>
        <a:srgbClr val="AFCDE3"/>
      </a:accent4>
      <a:accent5>
        <a:srgbClr val="D8D8D8"/>
      </a:accent5>
      <a:accent6>
        <a:srgbClr val="000000"/>
      </a:accent6>
      <a:hlink>
        <a:srgbClr val="0000FF"/>
      </a:hlink>
      <a:folHlink>
        <a:srgbClr val="6600CC"/>
      </a:folHlink>
    </a:clrScheme>
    <a:fontScheme name="Custom 1">
      <a:majorFont>
        <a:latin typeface="Calibri"/>
        <a:ea typeface="ＭＳ Ｐゴシック"/>
        <a:cs typeface=""/>
      </a:majorFont>
      <a:minorFont>
        <a:latin typeface="Calibri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8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8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ERC PowerPoint (Widescreen 16x9).potx" id="{37B45A3A-536E-47C6-A46E-70DC39572A8C}" vid="{0BEAB6DD-D04B-463B-A079-BED079838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p:properties xmlns:p="http://schemas.microsoft.com/office/2006/metadata/properties" xmlns:xsi="http://www.w3.org/2001/XMLSchema-instance">
  <documentManagement>
    <Document_x0020_Name xmlns="a614bff7-06ef-4380-81cc-ebb8f858167d">NERC PowerPoint (Widescreen 16x9)</Document_x0020_Name>
    <Document_x0020_Category xmlns="a614bff7-06ef-4380-81cc-ebb8f858167d">Template</Document_x0020_Category>
    <Owner xmlns="a614bff7-06ef-4380-81cc-ebb8f858167d">
      <UserInfo>
        <DisplayName>Alex Carlson</DisplayName>
        <AccountId>178</AccountId>
        <AccountType/>
      </UserInfo>
    </Owner>
    <_dlc_DocId xmlns="be72bb46-7b96-43f6-b3d2-cb56bca42853">4MTZNK5M4YKK-1380784637-81</_dlc_DocId>
    <_dlc_DocIdUrl xmlns="be72bb46-7b96-43f6-b3d2-cb56bca42853">
      <Url>https://infohub.internal.nerc.com/_layouts/15/DocIdRedir.aspx?ID=4MTZNK5M4YKK-1380784637-81</Url>
      <Description>4MTZNK5M4YKK-1380784637-81</Description>
    </_dlc_DocIdUrl>
    <Division xmlns="a614bff7-06ef-4380-81cc-ebb8f858167d">NERC</Division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9E5512AEAC1B43B12780FC5E966037" ma:contentTypeVersion="7" ma:contentTypeDescription="Create a new document." ma:contentTypeScope="" ma:versionID="e1fa40aa5e4a11081a5ac935b6351ad9">
  <xsd:schema xmlns:xsd="http://www.w3.org/2001/XMLSchema" xmlns:xs="http://www.w3.org/2001/XMLSchema" xmlns:p="http://schemas.microsoft.com/office/2006/metadata/properties" xmlns:ns2="a614bff7-06ef-4380-81cc-ebb8f858167d" xmlns:ns3="be72bb46-7b96-43f6-b3d2-cb56bca42853" targetNamespace="http://schemas.microsoft.com/office/2006/metadata/properties" ma:root="true" ma:fieldsID="51d5459262243764f4e74aba4819059e" ns2:_="" ns3:_="">
    <xsd:import namespace="a614bff7-06ef-4380-81cc-ebb8f858167d"/>
    <xsd:import namespace="be72bb46-7b96-43f6-b3d2-cb56bca42853"/>
    <xsd:element name="properties">
      <xsd:complexType>
        <xsd:sequence>
          <xsd:element name="documentManagement">
            <xsd:complexType>
              <xsd:all>
                <xsd:element ref="ns2:Document_x0020_Category"/>
                <xsd:element ref="ns2:Document_x0020_Name" minOccurs="0"/>
                <xsd:element ref="ns2:Owner" minOccurs="0"/>
                <xsd:element ref="ns2:Division" minOccurs="0"/>
                <xsd:element ref="ns3:_dlc_DocId" minOccurs="0"/>
                <xsd:element ref="ns3:_dlc_DocIdUrl" minOccurs="0"/>
                <xsd:element ref="ns3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14bff7-06ef-4380-81cc-ebb8f858167d" elementFormDefault="qualified">
    <xsd:import namespace="http://schemas.microsoft.com/office/2006/documentManagement/types"/>
    <xsd:import namespace="http://schemas.microsoft.com/office/infopath/2007/PartnerControls"/>
    <xsd:element name="Document_x0020_Category" ma:index="4" ma:displayName="Document Category" ma:default="Document" ma:format="Dropdown" ma:internalName="Document_x0020_Category" ma:readOnly="false">
      <xsd:simpleType>
        <xsd:restriction base="dms:Choice">
          <xsd:enumeration value="Document"/>
          <xsd:enumeration value="Logo"/>
          <xsd:enumeration value="Style Guide"/>
          <xsd:enumeration value="Template"/>
          <xsd:enumeration value="Meeting Reminder Statements"/>
          <xsd:enumeration value="E-ISAC"/>
        </xsd:restriction>
      </xsd:simpleType>
    </xsd:element>
    <xsd:element name="Document_x0020_Name" ma:index="5" nillable="true" ma:displayName="Document Name" ma:internalName="Document_x0020_Name" ma:readOnly="false">
      <xsd:simpleType>
        <xsd:restriction base="dms:Text">
          <xsd:maxLength value="100"/>
        </xsd:restriction>
      </xsd:simpleType>
    </xsd:element>
    <xsd:element name="Owner" ma:index="6" nillable="true" ma:displayName="Owner" ma:list="UserInfo" ma:SharePointGroup="0" ma:internalName="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vision" ma:index="11" nillable="true" ma:displayName="Area" ma:format="Dropdown" ma:internalName="Division">
      <xsd:simpleType>
        <xsd:restriction base="dms:Choice">
          <xsd:enumeration value="E-ISAC"/>
          <xsd:enumeration value="NERC"/>
          <xsd:enumeration value="All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72bb46-7b96-43f6-b3d2-cb56bca42853" elementFormDefault="qualified">
    <xsd:import namespace="http://schemas.microsoft.com/office/2006/documentManagement/types"/>
    <xsd:import namespace="http://schemas.microsoft.com/office/infopath/2007/PartnerControls"/>
    <xsd:element name="_dlc_DocId" ma:index="1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4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7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/>
</file>

<file path=customXml/item5.xml><?xml version="1.0" encoding="utf-8"?>
<?mso-contentType ?>
<SharedContentType xmlns="Microsoft.SharePoint.Taxonomy.ContentTypeSync" SourceId="9444bc9d-bb2e-441f-89a7-915ba9281662" ContentTypeId="0x0101" PreviousValue="false"/>
</file>

<file path=customXml/itemProps1.xml><?xml version="1.0" encoding="utf-8"?>
<ds:datastoreItem xmlns:ds="http://schemas.openxmlformats.org/officeDocument/2006/customXml" ds:itemID="{A51EF14B-9FC4-4933-9DF9-300B895476B4}">
  <ds:schemaRefs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terms/"/>
    <ds:schemaRef ds:uri="be72bb46-7b96-43f6-b3d2-cb56bca42853"/>
    <ds:schemaRef ds:uri="a614bff7-06ef-4380-81cc-ebb8f858167d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B78F719-1F59-4989-B599-989CDA918138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61285215-C368-48DA-B598-F9EAE81A99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14bff7-06ef-4380-81cc-ebb8f858167d"/>
    <ds:schemaRef ds:uri="be72bb46-7b96-43f6-b3d2-cb56bca4285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35FED79D-7352-4CA1-96DC-E7A4EF6B6D8B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A59C48BE-2A42-48B8-8341-8AE461659F3A}">
  <ds:schemaRefs>
    <ds:schemaRef ds:uri="Microsoft.SharePoint.Taxonomy.ContentTypeSync"/>
  </ds:schemaRefs>
</ds:datastoreItem>
</file>

<file path=docMetadata/LabelInfo.xml><?xml version="1.0" encoding="utf-8"?>
<clbl:labelList xmlns:clbl="http://schemas.microsoft.com/office/2020/mipLabelMetadata">
  <clbl:label id="{cac25473-bb91-4a6f-afab-8ab26c3ec881}" enabled="1" method="Standard" siteId="{a2d34bfa-bd5b-4dc3-9a2e-098f9929677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NERC PowerPoint (Widescreen 16x9) (2)</Template>
  <TotalTime>395</TotalTime>
  <Words>1621</Words>
  <Application>Microsoft Office PowerPoint</Application>
  <PresentationFormat>Widescreen</PresentationFormat>
  <Paragraphs>151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Courier New</vt:lpstr>
      <vt:lpstr>Lucida Grande</vt:lpstr>
      <vt:lpstr>Tahoma</vt:lpstr>
      <vt:lpstr>Verdana</vt:lpstr>
      <vt:lpstr>Wingdings</vt:lpstr>
      <vt:lpstr>NERCTheme</vt:lpstr>
      <vt:lpstr>PowerPoint Presentation</vt:lpstr>
      <vt:lpstr>LMWG Workbook</vt:lpstr>
      <vt:lpstr>LMWG Workbook Git Repository</vt:lpstr>
      <vt:lpstr>PSSE Example Problem 1</vt:lpstr>
      <vt:lpstr>PSSE Example Problem 1 – A Potential Solution</vt:lpstr>
      <vt:lpstr>PSSE Example Problem 1 – A Potential Solution</vt:lpstr>
      <vt:lpstr>PSSE Example Problem 1 – A Potential Solution</vt:lpstr>
      <vt:lpstr>PSSE Example Problem 1 – A Potential Solution</vt:lpstr>
      <vt:lpstr>PSSE Example Problem 1 – A Potential Solution</vt:lpstr>
      <vt:lpstr>PSSE Example Problem 1 – A Potential Solution</vt:lpstr>
      <vt:lpstr>PSSE Example Problem 1 – A Potential Solution</vt:lpstr>
      <vt:lpstr>PSSE Example Problem 1 – A Potential Solution</vt:lpstr>
      <vt:lpstr>PSSE Example Problem 1 – A Potential Solution</vt:lpstr>
      <vt:lpstr>PSSE Example Problem 2</vt:lpstr>
      <vt:lpstr>PSSE Example Problem 2 – A Potential Solution</vt:lpstr>
      <vt:lpstr>PSSE Example Problem 2 – A Potential Solution</vt:lpstr>
      <vt:lpstr>PSSE Example Problem 2 – A Potential Solution</vt:lpstr>
      <vt:lpstr>PSSE Example Problem 2 – A Potential Solution</vt:lpstr>
      <vt:lpstr>PSSE Example Problem 2 – A Potential Solution</vt:lpstr>
      <vt:lpstr>PSSE Example Problem 2 – A Potential Solution</vt:lpstr>
      <vt:lpstr>Problem 1 and 2 – Alternate Approach</vt:lpstr>
      <vt:lpstr>Problem 1 and 2 – Alternate Approach</vt:lpstr>
      <vt:lpstr>Problem 1 and 2 – Alternate Approach</vt:lpstr>
      <vt:lpstr>Problem 1 and 2 – Alternate Approach</vt:lpstr>
      <vt:lpstr>Problem 1 and 2 – Alternate Approach</vt:lpstr>
      <vt:lpstr>PowerPoint Presentation</vt:lpstr>
    </vt:vector>
  </TitlesOfParts>
  <Manager/>
  <Company>NERC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NERC PowerPoint (widescreen 16x9)</dc:title>
  <dc:creator>Alex Carlson</dc:creator>
  <cp:lastModifiedBy>Patrick Harwood</cp:lastModifiedBy>
  <cp:revision>11</cp:revision>
  <dcterms:created xsi:type="dcterms:W3CDTF">2024-05-30T19:10:43Z</dcterms:created>
  <dcterms:modified xsi:type="dcterms:W3CDTF">2025-10-16T18:45:36Z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0x010100779E5512AEAC1B43B12780FC5E966037</vt:lpwstr>
  </property>
  <property fmtid="{D5CDD505-2E9C-101B-9397-08002B2CF9AE}" pid="3" name="Order">
    <vt:r8>5800</vt:r8>
  </property>
  <property fmtid="{D5CDD505-2E9C-101B-9397-08002B2CF9AE}" pid="4" name="GS_AddingInProgress">
    <vt:lpwstr>False</vt:lpwstr>
  </property>
  <property fmtid="{D5CDD505-2E9C-101B-9397-08002B2CF9AE}" pid="5" name="_dlc_DocIdItemGuid">
    <vt:lpwstr>24105d8b-5f0f-4912-a9ad-9daf8dec882b</vt:lpwstr>
  </property>
</Properties>
</file>